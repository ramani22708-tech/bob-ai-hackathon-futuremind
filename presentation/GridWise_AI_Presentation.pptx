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512ca69581a54879" /><Relationship Type="http://schemas.openxmlformats.org/package/2006/relationships/metadata/core-properties" Target="/docProps/core.xml" Id="Rd40a6ff67ee640f0" /><Relationship Type="http://schemas.openxmlformats.org/officeDocument/2006/relationships/extended-properties" Target="/docProps/app.xml" Id="R678eabf92e59417d" /><Relationship Type="http://schemas.openxmlformats.org/officeDocument/2006/relationships/custom-properties" Target="/docProps/custom.xml" Id="R339a2ee0d3054a7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232dfcf50df44802"/>
  </p:notesMasterIdLst>
  <p:sldIdLst>
    <p:sldId id="256" r:id="Rfd4edc61dcc04c97"/>
    <p:sldId id="257" r:id="Re0edc28a636b4cc9"/>
    <p:sldId id="258" r:id="R0be41a82e2b24c21"/>
    <p:sldId id="259" r:id="Rbf50cbf7ce294362"/>
    <p:sldId id="260" r:id="R4ef7169d4a424840"/>
    <p:sldId id="261" r:id="R8f58ede9c1c34de2"/>
    <p:sldId id="262" r:id="R32da5256c27f4a68"/>
    <p:sldId id="263" r:id="Re500df4f02794b81"/>
    <p:sldId id="264" r:id="R99340bb81ac7401f"/>
    <p:sldId id="265" r:id="R2db29bec97a94619"/>
    <p:sldId id="266" r:id="R52e96a1c7dbd4f3b"/>
    <p:sldId id="267" r:id="Reec4d2fe92674892"/>
    <p:sldId id="268" r:id="Rdc3c0b27fd604fc9"/>
    <p:sldId id="269" r:id="Ree1c753ac0c94d9e"/>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fd4edc61dcc04c97" /><Relationship Type="http://schemas.openxmlformats.org/officeDocument/2006/relationships/notesMaster" Target="/ppt/notesMasters/notesMaster1.xml" Id="R232dfcf50df44802" /><Relationship Type="http://schemas.openxmlformats.org/officeDocument/2006/relationships/slide" Target="/ppt/slides/slide2.xml" Id="Re0edc28a636b4cc9" /><Relationship Type="http://schemas.openxmlformats.org/officeDocument/2006/relationships/slide" Target="/ppt/slides/slide3.xml" Id="R0be41a82e2b24c21" /><Relationship Type="http://schemas.openxmlformats.org/officeDocument/2006/relationships/slide" Target="/ppt/slides/slide4.xml" Id="Rbf50cbf7ce294362" /><Relationship Type="http://schemas.openxmlformats.org/officeDocument/2006/relationships/slide" Target="/ppt/slides/slide5.xml" Id="R4ef7169d4a424840" /><Relationship Type="http://schemas.openxmlformats.org/officeDocument/2006/relationships/slide" Target="/ppt/slides/slide6.xml" Id="R8f58ede9c1c34de2" /><Relationship Type="http://schemas.openxmlformats.org/officeDocument/2006/relationships/slide" Target="/ppt/slides/slide7.xml" Id="R32da5256c27f4a68" /><Relationship Type="http://schemas.openxmlformats.org/officeDocument/2006/relationships/slide" Target="/ppt/slides/slide8.xml" Id="Re500df4f02794b81" /><Relationship Type="http://schemas.openxmlformats.org/officeDocument/2006/relationships/slide" Target="/ppt/slides/slide9.xml" Id="R99340bb81ac7401f" /><Relationship Type="http://schemas.openxmlformats.org/officeDocument/2006/relationships/slide" Target="/ppt/slides/slide10.xml" Id="R2db29bec97a94619" /><Relationship Type="http://schemas.openxmlformats.org/officeDocument/2006/relationships/slide" Target="/ppt/slides/slide11.xml" Id="R52e96a1c7dbd4f3b" /><Relationship Type="http://schemas.openxmlformats.org/officeDocument/2006/relationships/slide" Target="/ppt/slides/slide12.xml" Id="Reec4d2fe92674892" /><Relationship Type="http://schemas.openxmlformats.org/officeDocument/2006/relationships/slide" Target="/ppt/slides/slide13.xml" Id="Rdc3c0b27fd604fc9" /><Relationship Type="http://schemas.openxmlformats.org/officeDocument/2006/relationships/slide" Target="/ppt/slides/slide14.xml" Id="Ree1c753ac0c94d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fbeb07d5f304be4"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fe779e5b2294c9c" /><Relationship Type="http://schemas.openxmlformats.org/officeDocument/2006/relationships/slide" Target="/ppt/slides/slide1.xml" Id="Rb6aa8de0fd4341df"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47f06d3d2bd74413" /><Relationship Type="http://schemas.openxmlformats.org/officeDocument/2006/relationships/slide" Target="/ppt/slides/slide2.xml" Id="R655af688c6924f1d"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3858045555b74304" /><Relationship Type="http://schemas.openxmlformats.org/officeDocument/2006/relationships/slide" Target="/ppt/slides/slide3.xml" Id="R4f7a9f9771eb4e7e"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1ad340494104460f" /><Relationship Type="http://schemas.openxmlformats.org/officeDocument/2006/relationships/slide" Target="/ppt/slides/slide4.xml" Id="Rbd20560de82c4bb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27feb3bab43743fb" /><Relationship Type="http://schemas.openxmlformats.org/officeDocument/2006/relationships/slide" Target="/ppt/slides/slide5.xml" Id="R57568f2155164cda"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9924fd2d154e47f2" /><Relationship Type="http://schemas.openxmlformats.org/officeDocument/2006/relationships/slide" Target="/ppt/slides/slide6.xml" Id="R6497cbdf2dff48a8"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7e89ace5ec9a494c" /><Relationship Type="http://schemas.openxmlformats.org/officeDocument/2006/relationships/slide" Target="/ppt/slides/slide7.xml" Id="R5f922ae702284d4f"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3694c62ffaec47db" /><Relationship Type="http://schemas.openxmlformats.org/officeDocument/2006/relationships/slide" Target="/ppt/slides/slide8.xml" Id="Rab55e73ab6784c31"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5de36e3fa73e4c6e" /><Relationship Type="http://schemas.openxmlformats.org/officeDocument/2006/relationships/slide" Target="/ppt/slides/slide9.xml" Id="R3918c055e2c0402c"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7f98da4c22b04f9d" /><Relationship Type="http://schemas.openxmlformats.org/officeDocument/2006/relationships/slide" Target="/ppt/slides/slide10.xml" Id="Re520a69db4054980"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ca4d803700544547" /><Relationship Type="http://schemas.openxmlformats.org/officeDocument/2006/relationships/slide" Target="/ppt/slides/slide11.xml" Id="R222c45a0152646e5"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792728297400438d" /><Relationship Type="http://schemas.openxmlformats.org/officeDocument/2006/relationships/slide" Target="/ppt/slides/slide12.xml" Id="Rf93ef7d36df44c61"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aebe139873c74829" /><Relationship Type="http://schemas.openxmlformats.org/officeDocument/2006/relationships/slide" Target="/ppt/slides/slide13.xml" Id="R9f75c35cb37448ec"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d6e95ce420da4870" /><Relationship Type="http://schemas.openxmlformats.org/officeDocument/2006/relationships/slide" Target="/ppt/slides/slide14.xml" Id="Ra46d3f862e474a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to GridWise AI — our AI-powered energy intelligence platform built for IBM BoB AI Innovation Hackathon 2026. This prototype addresses Problem U2: Grid Load Optimisation and Renewable Energy Performance Advisor.</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electricity grid faces critical challenges: renewable energy is weather-dependent, demand spikes are hard to predict, and operators lack integrated tools. GridWise AI addresses all 5 dimensions of Problem U2.</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GridWise AI has 9 fully functional pages. Every page is interactive with real charts, filters, and AI-generated insights. All data is clearly labelled as simulated.</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Overview Dashboard gives operators an immediate summary of the simulated grid. All 9 KPI cards update reactively when simulation scenarios are triggered.</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Demand Forecast page uses Weighted Moving Average forecasting. It shows historical vs predicted demand with confidence bands, highlights spike periods, and generates an AI narrative explaining the forecast.</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Renewable Performance page monitors all 6 assets. Z-score anomaly detection flags Solar Farm Alpha at -3.2 standard deviations. The AI Root Cause Analysis provides ranked possible causes for operator investigation.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Grid Balance page shows real-time calculations of surplus/deficit and reserve margin. The stacked area chart shows demand vs generation. Green status means no immediate risk.</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AI Insights Centre combines all module outputs into one page. The chatbot responds to natural-language questions using rule-based pattern matching against live simulation data.</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Curtailment Optimisation page quantifies wasted renewable energy and provides a ranked AI plan to recover it. 80% of curtailed energy is recoverable through demand flexibility and storage.</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Operator Brief generates a 9-section professional report at the click of a button. It can be printed as PDF or copied to clipboard. This is the key deliverable for hackathon judges.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Data Simulation Centre is key for hackathon demos. Click any scenario button and all 9 pages update instantly. The seeded RNG ensures consistent values every time — no surprises during the demo.</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About page clearly explains the project, team, technology stack, and disclaimer. It emphasises that all data is simulated and AI outputs are decision-support tools, not automated grid controls.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architecture is a fully client-side React SPA. Data flows from the simulation layer through computation and AI layers, then up to the UI. All state is managed in React Context for reactive updates across all pages.</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Thank you for watching our GridWise AI presentation. We are happy to take questions and demonstrate the live application. The full source code is available on GitHub.</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bd75f168974c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544225552043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69ed44592f4a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01ce617a994e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be54ac8c954a52"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09671970dd384ef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579ecb9884f24d86" /><Relationship Type="http://schemas.openxmlformats.org/officeDocument/2006/relationships/notesSlide" Target="/ppt/notesSlides/notesSlide1.xml" Id="R02828b140f0346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4417e3ee2a4681" /><Relationship Type="http://schemas.openxmlformats.org/officeDocument/2006/relationships/notesSlide" Target="/ppt/notesSlides/notesSlide2.xml" Id="R8f6b98f6ad524a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d192818cba494c" /><Relationship Type="http://schemas.openxmlformats.org/officeDocument/2006/relationships/notesSlide" Target="/ppt/notesSlides/notesSlide3.xml" Id="Re0e7b8723d894f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625a44831548d8" /><Relationship Type="http://schemas.openxmlformats.org/officeDocument/2006/relationships/notesSlide" Target="/ppt/notesSlides/notesSlide4.xml" Id="Re51d6f23bc3943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0571218aa74b5a" /><Relationship Type="http://schemas.openxmlformats.org/officeDocument/2006/relationships/notesSlide" Target="/ppt/notesSlides/notesSlide5.xml" Id="R2e1650a3515741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13298ea2444c88" /><Relationship Type="http://schemas.openxmlformats.org/officeDocument/2006/relationships/notesSlide" Target="/ppt/notesSlides/notesSlide6.xml" Id="R18d6a7ee72034e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51873323ef425d" /><Relationship Type="http://schemas.openxmlformats.org/officeDocument/2006/relationships/notesSlide" Target="/ppt/notesSlides/notesSlide7.xml" Id="R2c856c03470845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3b43014a9e4a8b" /><Relationship Type="http://schemas.openxmlformats.org/officeDocument/2006/relationships/notesSlide" Target="/ppt/notesSlides/notesSlide8.xml" Id="R167b2399df9e4b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55699dcc544571" /><Relationship Type="http://schemas.openxmlformats.org/officeDocument/2006/relationships/notesSlide" Target="/ppt/notesSlides/notesSlide9.xml" Id="R327c91432c9941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86ea5d3afd4606" /><Relationship Type="http://schemas.openxmlformats.org/officeDocument/2006/relationships/notesSlide" Target="/ppt/notesSlides/notesSlide10.xml" Id="R078cbcd0d6ce43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a6ab2746da14a50" /><Relationship Type="http://schemas.openxmlformats.org/officeDocument/2006/relationships/notesSlide" Target="/ppt/notesSlides/notesSlide11.xml" Id="R5797d180fc5447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6346ce66b34692" /><Relationship Type="http://schemas.openxmlformats.org/officeDocument/2006/relationships/notesSlide" Target="/ppt/notesSlides/notesSlide12.xml" Id="R85464ea7c5a148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c56af2dda9241ff" /><Relationship Type="http://schemas.openxmlformats.org/officeDocument/2006/relationships/notesSlide" Target="/ppt/notesSlides/notesSlide13.xml" Id="R977024345f584a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e106298c2f486b" /><Relationship Type="http://schemas.openxmlformats.org/officeDocument/2006/relationships/notesSlide" Target="/ppt/notesSlides/notesSlide14.xml" Id="Rbb08493bd6754ba3" /></Relationships>
</file>

<file path=ppt/slides/slide1.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00" name="Tag"/>
          <p:cNvSpPr txBox="1"/>
          <p:nvPr/>
        </p:nvSpPr>
        <p:spPr>
          <a:xfrm xmlns:a="http://schemas.openxmlformats.org/drawingml/2006/main">
            <a:off x="540000" y="288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0">
                <a:solidFill>
                  <a:srgbClr val="8BA3BC"/>
                </a:solidFill>
              </a:rPr>
              <a:t>IBM BoB AI Innovation Hackathon 2026  |  Team FutureMind  |  Problem U2</a:t>
            </a:r>
          </a:p>
        </p:txBody>
      </p:sp>
      <p:sp>
        <p:nvSpPr>
          <p:cNvPr id="100001" name="Title"/>
          <p:cNvSpPr txBox="1"/>
          <p:nvPr/>
        </p:nvSpPr>
        <p:spPr>
          <a:xfrm xmlns:a="http://schemas.openxmlformats.org/drawingml/2006/main">
            <a:off x="540000" y="1260000"/>
            <a:ext cx="10800000" cy="14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 GridWise AI</a:t>
            </a:r>
          </a:p>
        </p:txBody>
      </p:sp>
      <p:sp>
        <p:nvSpPr>
          <p:cNvPr id="100002" name="Tagline"/>
          <p:cNvSpPr txBox="1"/>
          <p:nvPr/>
        </p:nvSpPr>
        <p:spPr>
          <a:xfrm xmlns:a="http://schemas.openxmlformats.org/drawingml/2006/main">
            <a:off x="540000" y="270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0">
                <a:solidFill>
                  <a:srgbClr val="8BA3BC"/>
                </a:solidFill>
              </a:rPr>
              <a:t>Smarter Energy. Stronger Grid. Greener Future.</a:t>
            </a:r>
          </a:p>
        </p:txBody>
      </p:sp>
      <p:sp>
        <p:nvSpPr>
          <p:cNvPr id="100003" name="Details"/>
          <p:cNvSpPr txBox="1"/>
          <p:nvPr/>
        </p:nvSpPr>
        <p:spPr>
          <a:xfrm xmlns:a="http://schemas.openxmlformats.org/drawingml/2006/main">
            <a:off x="540000" y="378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57606A"/>
                </a:solidFill>
              </a:rPr>
              <a:t>Problem: Grid Load Optimisation &amp; Renewable Energy Performance Advisor</a:t>
            </a:r>
          </a:p>
          <a:p xmlns:a="http://schemas.openxmlformats.org/drawingml/2006/main">
            <a:r>
              <a:rPr lang="en-US" sz="1600" b="0">
                <a:solidFill>
                  <a:srgbClr val="57606A"/>
                </a:solidFill>
              </a:rPr>
              <a:t>Stack: React 18 · Vite · Recharts · Rule-Based AI</a:t>
            </a:r>
          </a:p>
          <a:p xmlns:a="http://schemas.openxmlformats.org/drawingml/2006/main">
            <a:r>
              <a:rPr lang="en-US" sz="1600" b="0">
                <a:solidFill>
                  <a:srgbClr val="57606A"/>
                </a:solidFill>
              </a:rPr>
              <a:t>Pages: 9 Fully Functional Pages</a:t>
            </a:r>
          </a:p>
        </p:txBody>
      </p:sp>
    </p:spTree>
  </p:cSld>
</p:sld>
</file>

<file path=ppt/slides/slide2.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04"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02 / 14  —  The Problem</a:t>
            </a:r>
          </a:p>
        </p:txBody>
      </p:sp>
      <p:sp>
        <p:nvSpPr>
          <p:cNvPr id="100005"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Why Grid Operators Need AI</a:t>
            </a:r>
          </a:p>
        </p:txBody>
      </p:sp>
      <p:sp>
        <p:nvSpPr>
          <p:cNvPr id="100006" name="Challenges"/>
          <p:cNvSpPr txBox="1"/>
          <p:nvPr/>
        </p:nvSpPr>
        <p:spPr>
          <a:xfrm xmlns:a="http://schemas.openxmlformats.org/drawingml/2006/main">
            <a:off x="540000" y="1440000"/>
            <a:ext cx="576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600" b="0">
                <a:solidFill>
                  <a:srgbClr val="C9D1D9"/>
                </a:solidFill>
              </a:rPr>
              <a:t>🔴 Core Challenges</a:t>
            </a:r>
          </a:p>
          <a:p xmlns:a="http://schemas.openxmlformats.org/drawingml/2006/main">
            <a:r>
              <a:rPr lang="en-US" sz="1600" b="0">
                <a:solidFill>
                  <a:srgbClr val="C9D1D9"/>
                </a:solidFill>
              </a:rPr>
              <a:t/>
            </a:r>
          </a:p>
          <a:p xmlns:a="http://schemas.openxmlformats.org/drawingml/2006/main">
            <a:r>
              <a:rPr lang="en-US" sz="1600" b="0">
                <a:solidFill>
                  <a:srgbClr val="C9D1D9"/>
                </a:solidFill>
              </a:rPr>
              <a:t>• Renewables are weather-dependent — creating unpredictable supply-demand imbalances</a:t>
            </a:r>
          </a:p>
          <a:p xmlns:a="http://schemas.openxmlformats.org/drawingml/2006/main">
            <a:r>
              <a:rPr lang="en-US" sz="1600" b="0">
                <a:solidFill>
                  <a:srgbClr val="C9D1D9"/>
                </a:solidFill>
              </a:rPr>
              <a:t>• Demand spikes can exceed available generation, risking blackouts</a:t>
            </a:r>
          </a:p>
          <a:p xmlns:a="http://schemas.openxmlformats.org/drawingml/2006/main">
            <a:r>
              <a:rPr lang="en-US" sz="1600" b="0">
                <a:solidFill>
                  <a:srgbClr val="C9D1D9"/>
                </a:solidFill>
              </a:rPr>
              <a:t>• Asset underperformance goes undetected for hours — wasting clean energy</a:t>
            </a:r>
          </a:p>
          <a:p xmlns:a="http://schemas.openxmlformats.org/drawingml/2006/main">
            <a:r>
              <a:rPr lang="en-US" sz="1600" b="0">
                <a:solidFill>
                  <a:srgbClr val="C9D1D9"/>
                </a:solidFill>
              </a:rPr>
              <a:t>• Curtailment wastes 50–100 TWh of renewable energy globally every year</a:t>
            </a:r>
          </a:p>
          <a:p xmlns:a="http://schemas.openxmlformats.org/drawingml/2006/main">
            <a:r>
              <a:rPr lang="en-US" sz="1600" b="0">
                <a:solidFill>
                  <a:srgbClr val="C9D1D9"/>
                </a:solidFill>
              </a:rPr>
              <a:t>• Operators work with fragmented tools — forecasting, monitoring, planning in silos</a:t>
            </a:r>
          </a:p>
        </p:txBody>
      </p:sp>
      <p:sp>
        <p:nvSpPr>
          <p:cNvPr id="100007" name="Stats"/>
          <p:cNvSpPr txBox="1"/>
          <p:nvPr/>
        </p:nvSpPr>
        <p:spPr>
          <a:xfrm xmlns:a="http://schemas.openxmlformats.org/drawingml/2006/main">
            <a:off x="6840000" y="1440000"/>
            <a:ext cx="504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600" b="0">
                <a:solidFill>
                  <a:srgbClr val="8BA3BC"/>
                </a:solidFill>
              </a:rPr>
              <a:t>100 TWh</a:t>
            </a:r>
          </a:p>
          <a:p xmlns:a="http://schemas.openxmlformats.org/drawingml/2006/main">
            <a:r>
              <a:rPr lang="en-US" sz="1600" b="0">
                <a:solidFill>
                  <a:srgbClr val="8BA3BC"/>
                </a:solidFill>
              </a:rPr>
              <a:t>Renewable Energy Curtailed / Year</a:t>
            </a:r>
          </a:p>
          <a:p xmlns:a="http://schemas.openxmlformats.org/drawingml/2006/main">
            <a:r>
              <a:rPr lang="en-US" sz="1600" b="0">
                <a:solidFill>
                  <a:srgbClr val="8BA3BC"/>
                </a:solidFill>
              </a:rPr>
              <a:t/>
            </a:r>
          </a:p>
          <a:p xmlns:a="http://schemas.openxmlformats.org/drawingml/2006/main">
            <a:r>
              <a:rPr lang="en-US" sz="1600" b="0">
                <a:solidFill>
                  <a:srgbClr val="8BA3BC"/>
                </a:solidFill>
              </a:rPr>
              <a:t>40%</a:t>
            </a:r>
          </a:p>
          <a:p xmlns:a="http://schemas.openxmlformats.org/drawingml/2006/main">
            <a:r>
              <a:rPr lang="en-US" sz="1600" b="0">
                <a:solidFill>
                  <a:srgbClr val="8BA3BC"/>
                </a:solidFill>
              </a:rPr>
              <a:t>Forecast Error Reduction with AI</a:t>
            </a:r>
          </a:p>
          <a:p xmlns:a="http://schemas.openxmlformats.org/drawingml/2006/main">
            <a:r>
              <a:rPr lang="en-US" sz="1600" b="0">
                <a:solidFill>
                  <a:srgbClr val="8BA3BC"/>
                </a:solidFill>
              </a:rPr>
              <a:t/>
            </a:r>
          </a:p>
          <a:p xmlns:a="http://schemas.openxmlformats.org/drawingml/2006/main">
            <a:r>
              <a:rPr lang="en-US" sz="1600" b="0">
                <a:solidFill>
                  <a:srgbClr val="8BA3BC"/>
                </a:solidFill>
              </a:rPr>
              <a:t>70%</a:t>
            </a:r>
          </a:p>
          <a:p xmlns:a="http://schemas.openxmlformats.org/drawingml/2006/main">
            <a:r>
              <a:rPr lang="en-US" sz="1600" b="0">
                <a:solidFill>
                  <a:srgbClr val="8BA3BC"/>
                </a:solidFill>
              </a:rPr>
              <a:t>Target Renewable Share by 2035</a:t>
            </a:r>
          </a:p>
          <a:p xmlns:a="http://schemas.openxmlformats.org/drawingml/2006/main">
            <a:r>
              <a:rPr lang="en-US" sz="1600" b="0">
                <a:solidFill>
                  <a:srgbClr val="8BA3BC"/>
                </a:solidFill>
              </a:rPr>
              <a:t/>
            </a:r>
          </a:p>
          <a:p xmlns:a="http://schemas.openxmlformats.org/drawingml/2006/main">
            <a:r>
              <a:rPr lang="en-US" sz="1600" b="0">
                <a:solidFill>
                  <a:srgbClr val="8BA3BC"/>
                </a:solidFill>
              </a:rPr>
              <a:t>5 Problem Dimensions Addressed</a:t>
            </a:r>
          </a:p>
        </p:txBody>
      </p:sp>
    </p:spTree>
  </p:cSld>
</p:sld>
</file>

<file path=ppt/slides/slide3.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08"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03 / 14  —  Solution Overview</a:t>
            </a:r>
          </a:p>
        </p:txBody>
      </p:sp>
      <p:sp>
        <p:nvSpPr>
          <p:cNvPr id="100009"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GridWise AI — What We Built</a:t>
            </a:r>
          </a:p>
        </p:txBody>
      </p:sp>
      <p:sp>
        <p:nvSpPr>
          <p:cNvPr id="100010" name="Subtitle"/>
          <p:cNvSpPr txBox="1"/>
          <p:nvPr/>
        </p:nvSpPr>
        <p:spPr>
          <a:xfrm xmlns:a="http://schemas.openxmlformats.org/drawingml/2006/main">
            <a:off x="540000" y="1224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8BA3BC"/>
                </a:solidFill>
              </a:rPr>
              <a:t>A complete AI-powered web platform for electricity-grid decision support — addressing all 5 dimensions of Problem U2 in 9 interactive pages.</a:t>
            </a:r>
          </a:p>
        </p:txBody>
      </p:sp>
      <p:sp>
        <p:nvSpPr>
          <p:cNvPr id="100011" name="Pages"/>
          <p:cNvSpPr txBox="1"/>
          <p:nvPr/>
        </p:nvSpPr>
        <p:spPr>
          <a:xfrm xmlns:a="http://schemas.openxmlformats.org/drawingml/2006/main">
            <a:off x="540000" y="1800000"/>
            <a:ext cx="540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Overview Dashboard</a:t>
            </a:r>
          </a:p>
          <a:p xmlns:a="http://schemas.openxmlformats.org/drawingml/2006/main">
            <a:r>
              <a:rPr lang="en-US" sz="1400" b="0">
                <a:solidFill>
                  <a:srgbClr val="C9D1D9"/>
                </a:solidFill>
              </a:rPr>
              <a:t>9 KPI cards, demand vs generation chart, active alerts, AI recommendations, asset health table</a:t>
            </a:r>
          </a:p>
          <a:p xmlns:a="http://schemas.openxmlformats.org/drawingml/2006/main">
            <a:r>
              <a:rPr lang="en-US" sz="1400" b="0">
                <a:solidFill>
                  <a:srgbClr val="C9D1D9"/>
                </a:solidFill>
              </a:rPr>
              <a:t/>
            </a:r>
          </a:p>
          <a:p xmlns:a="http://schemas.openxmlformats.org/drawingml/2006/main">
            <a:r>
              <a:rPr lang="en-US" sz="1400" b="0">
                <a:solidFill>
                  <a:srgbClr val="C9D1D9"/>
                </a:solidFill>
              </a:rPr>
              <a:t>📈 Demand Forecast</a:t>
            </a:r>
          </a:p>
          <a:p xmlns:a="http://schemas.openxmlformats.org/drawingml/2006/main">
            <a:r>
              <a:rPr lang="en-US" sz="1400" b="0">
                <a:solidFill>
                  <a:srgbClr val="C9D1D9"/>
                </a:solidFill>
              </a:rPr>
              <a:t>WMA forecast, confidence intervals ±4%→±13%, spike detection, MAE/RMSE accuracy metrics</a:t>
            </a:r>
          </a:p>
          <a:p xmlns:a="http://schemas.openxmlformats.org/drawingml/2006/main">
            <a:r>
              <a:rPr lang="en-US" sz="1400" b="0">
                <a:solidFill>
                  <a:srgbClr val="C9D1D9"/>
                </a:solidFill>
              </a:rPr>
              <a:t/>
            </a:r>
          </a:p>
          <a:p xmlns:a="http://schemas.openxmlformats.org/drawingml/2006/main">
            <a:r>
              <a:rPr lang="en-US" sz="1400" b="0">
                <a:solidFill>
                  <a:srgbClr val="C9D1D9"/>
                </a:solidFill>
              </a:rPr>
              <a:t>☀️ Renewable Performance</a:t>
            </a:r>
          </a:p>
          <a:p xmlns:a="http://schemas.openxmlformats.org/drawingml/2006/main">
            <a:r>
              <a:rPr lang="en-US" sz="1400" b="0">
                <a:solidFill>
                  <a:srgbClr val="C9D1D9"/>
                </a:solidFill>
              </a:rPr>
              <a:t>6 asset monitoring, Z-score anomaly detection, root-cause analysis, performance ranking</a:t>
            </a:r>
          </a:p>
          <a:p xmlns:a="http://schemas.openxmlformats.org/drawingml/2006/main">
            <a:r>
              <a:rPr lang="en-US" sz="1400" b="0">
                <a:solidFill>
                  <a:srgbClr val="C9D1D9"/>
                </a:solidFill>
              </a:rPr>
              <a:t/>
            </a:r>
          </a:p>
          <a:p xmlns:a="http://schemas.openxmlformats.org/drawingml/2006/main">
            <a:r>
              <a:rPr lang="en-US" sz="1400" b="0">
                <a:solidFill>
                  <a:srgbClr val="C9D1D9"/>
                </a:solidFill>
              </a:rPr>
              <a:t>⚖️ Grid Balance</a:t>
            </a:r>
          </a:p>
          <a:p xmlns:a="http://schemas.openxmlformats.org/drawingml/2006/main">
            <a:r>
              <a:rPr lang="en-US" sz="1400" b="0">
                <a:solidFill>
                  <a:srgbClr val="C9D1D9"/>
                </a:solidFill>
              </a:rPr>
              <a:t>Surplus/deficit gauge, reserve margin, generation mix, risk period timeline</a:t>
            </a:r>
          </a:p>
        </p:txBody>
      </p:sp>
      <p:sp>
        <p:nvSpPr>
          <p:cNvPr id="100012" name="Pages2"/>
          <p:cNvSpPr txBox="1"/>
          <p:nvPr/>
        </p:nvSpPr>
        <p:spPr>
          <a:xfrm xmlns:a="http://schemas.openxmlformats.org/drawingml/2006/main">
            <a:off x="6480000" y="1800000"/>
            <a:ext cx="540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AI Insights</a:t>
            </a:r>
          </a:p>
          <a:p xmlns:a="http://schemas.openxmlformats.org/drawingml/2006/main">
            <a:r>
              <a:rPr lang="en-US" sz="1400" b="0">
                <a:solidFill>
                  <a:srgbClr val="C9D1D9"/>
                </a:solidFill>
              </a:rPr>
              <a:t>Rule-based chatbot, demand narrative, anomaly summary, load-balancing recommendations</a:t>
            </a:r>
          </a:p>
          <a:p xmlns:a="http://schemas.openxmlformats.org/drawingml/2006/main">
            <a:r>
              <a:rPr lang="en-US" sz="1400" b="0">
                <a:solidFill>
                  <a:srgbClr val="C9D1D9"/>
                </a:solidFill>
              </a:rPr>
              <a:t/>
            </a:r>
          </a:p>
          <a:p xmlns:a="http://schemas.openxmlformats.org/drawingml/2006/main">
            <a:r>
              <a:rPr lang="en-US" sz="1400" b="0">
                <a:solidFill>
                  <a:srgbClr val="C9D1D9"/>
                </a:solidFill>
              </a:rPr>
              <a:t>✂️ Curtailment Optimisation</a:t>
            </a:r>
          </a:p>
          <a:p xmlns:a="http://schemas.openxmlformats.org/drawingml/2006/main">
            <a:r>
              <a:rPr lang="en-US" sz="1400" b="0">
                <a:solidFill>
                  <a:srgbClr val="C9D1D9"/>
                </a:solidFill>
              </a:rPr>
              <a:t>Curtailment timeline, AI minimisation plan, 4 strategies, recovery potential calculator</a:t>
            </a:r>
          </a:p>
          <a:p xmlns:a="http://schemas.openxmlformats.org/drawingml/2006/main">
            <a:r>
              <a:rPr lang="en-US" sz="1400" b="0">
                <a:solidFill>
                  <a:srgbClr val="C9D1D9"/>
                </a:solidFill>
              </a:rPr>
              <a:t/>
            </a:r>
          </a:p>
          <a:p xmlns:a="http://schemas.openxmlformats.org/drawingml/2006/main">
            <a:r>
              <a:rPr lang="en-US" sz="1400" b="0">
                <a:solidFill>
                  <a:srgbClr val="C9D1D9"/>
                </a:solidFill>
              </a:rPr>
              <a:t>📋 Operator Brief</a:t>
            </a:r>
          </a:p>
          <a:p xmlns:a="http://schemas.openxmlformats.org/drawingml/2006/main">
            <a:r>
              <a:rPr lang="en-US" sz="1400" b="0">
                <a:solidFill>
                  <a:srgbClr val="C9D1D9"/>
                </a:solidFill>
              </a:rPr>
              <a:t>One-click 9-section structured report, print/PDF, copy to clipboard</a:t>
            </a:r>
          </a:p>
          <a:p xmlns:a="http://schemas.openxmlformats.org/drawingml/2006/main">
            <a:r>
              <a:rPr lang="en-US" sz="1400" b="0">
                <a:solidFill>
                  <a:srgbClr val="C9D1D9"/>
                </a:solidFill>
              </a:rPr>
              <a:t/>
            </a:r>
          </a:p>
          <a:p xmlns:a="http://schemas.openxmlformats.org/drawingml/2006/main">
            <a:r>
              <a:rPr lang="en-US" sz="1400" b="0">
                <a:solidFill>
                  <a:srgbClr val="C9D1D9"/>
                </a:solidFill>
              </a:rPr>
              <a:t>🧪 Data Simulation</a:t>
            </a:r>
          </a:p>
          <a:p xmlns:a="http://schemas.openxmlformats.org/drawingml/2006/main">
            <a:r>
              <a:rPr lang="en-US" sz="1400" b="0">
                <a:solidFill>
                  <a:srgbClr val="C9D1D9"/>
                </a:solidFill>
              </a:rPr>
              <a:t>5 scenario buttons, time range selector, raw data table, CSV export</a:t>
            </a:r>
          </a:p>
          <a:p xmlns:a="http://schemas.openxmlformats.org/drawingml/2006/main">
            <a:r>
              <a:rPr lang="en-US" sz="1400" b="0">
                <a:solidFill>
                  <a:srgbClr val="C9D1D9"/>
                </a:solidFill>
              </a:rPr>
              <a:t/>
            </a:r>
          </a:p>
          <a:p xmlns:a="http://schemas.openxmlformats.org/drawingml/2006/main">
            <a:r>
              <a:rPr lang="en-US" sz="1400" b="0">
                <a:solidFill>
                  <a:srgbClr val="C9D1D9"/>
                </a:solidFill>
              </a:rPr>
              <a:t>ℹ️ About Project</a:t>
            </a:r>
          </a:p>
          <a:p xmlns:a="http://schemas.openxmlformats.org/drawingml/2006/main">
            <a:r>
              <a:rPr lang="en-US" sz="1400" b="0">
                <a:solidFill>
                  <a:srgbClr val="C9D1D9"/>
                </a:solidFill>
              </a:rPr>
              <a:t>Team info, tech stack, problem background, disclaimer</a:t>
            </a:r>
          </a:p>
        </p:txBody>
      </p:sp>
    </p:spTree>
  </p:cSld>
</p:sld>
</file>

<file path=ppt/slides/slide4.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13"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04 / 14  —  Page 1</a:t>
            </a:r>
          </a:p>
        </p:txBody>
      </p:sp>
      <p:sp>
        <p:nvSpPr>
          <p:cNvPr id="100014"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Overview Dashboard</a:t>
            </a:r>
          </a:p>
        </p:txBody>
      </p:sp>
      <p:sp>
        <p:nvSpPr>
          <p:cNvPr id="100015" name="KPIs"/>
          <p:cNvSpPr txBox="1"/>
          <p:nvPr/>
        </p:nvSpPr>
        <p:spPr>
          <a:xfrm xmlns:a="http://schemas.openxmlformats.org/drawingml/2006/main">
            <a:off x="540000" y="1440000"/>
            <a:ext cx="504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9 KPI CARDS</a:t>
            </a:r>
          </a:p>
          <a:p xmlns:a="http://schemas.openxmlformats.org/drawingml/2006/main">
            <a:r>
              <a:rPr lang="en-US" sz="1500" b="0">
                <a:solidFill>
                  <a:srgbClr val="C9D1D9"/>
                </a:solidFill>
              </a:rPr>
              <a:t/>
            </a:r>
          </a:p>
          <a:p xmlns:a="http://schemas.openxmlformats.org/drawingml/2006/main">
            <a:r>
              <a:rPr lang="en-US" sz="1500" b="0">
                <a:solidFill>
                  <a:srgbClr val="C9D1D9"/>
                </a:solidFill>
              </a:rPr>
              <a:t>1,247 MW  ·  Current Demand</a:t>
            </a:r>
          </a:p>
          <a:p xmlns:a="http://schemas.openxmlformats.org/drawingml/2006/main">
            <a:r>
              <a:rPr lang="en-US" sz="1500" b="0">
                <a:solidFill>
                  <a:srgbClr val="C9D1D9"/>
                </a:solidFill>
              </a:rPr>
              <a:t>1,424 MW  ·  Total Generation</a:t>
            </a:r>
          </a:p>
          <a:p xmlns:a="http://schemas.openxmlformats.org/drawingml/2006/main">
            <a:r>
              <a:rPr lang="en-US" sz="1500" b="0">
                <a:solidFill>
                  <a:srgbClr val="C9D1D9"/>
                </a:solidFill>
              </a:rPr>
              <a:t>  507 MW  ·  Renewable Generation</a:t>
            </a:r>
          </a:p>
          <a:p xmlns:a="http://schemas.openxmlformats.org/drawingml/2006/main">
            <a:r>
              <a:rPr lang="en-US" sz="1500" b="0">
                <a:solidFill>
                  <a:srgbClr val="C9D1D9"/>
                </a:solidFill>
              </a:rPr>
              <a:t>   41%    ·  Renewable Percentage</a:t>
            </a:r>
          </a:p>
          <a:p xmlns:a="http://schemas.openxmlformats.org/drawingml/2006/main">
            <a:r>
              <a:rPr lang="en-US" sz="1500" b="0">
                <a:solidFill>
                  <a:srgbClr val="C9D1D9"/>
                </a:solidFill>
              </a:rPr>
              <a:t> 14.2%   ·  Reserve Margin</a:t>
            </a:r>
          </a:p>
          <a:p xmlns:a="http://schemas.openxmlformats.org/drawingml/2006/main">
            <a:r>
              <a:rPr lang="en-US" sz="1500" b="0">
                <a:solidFill>
                  <a:srgbClr val="C9D1D9"/>
                </a:solidFill>
              </a:rPr>
              <a:t> +177 MW  ·  Grid Balance (Surplus)</a:t>
            </a:r>
          </a:p>
          <a:p xmlns:a="http://schemas.openxmlformats.org/drawingml/2006/main">
            <a:r>
              <a:rPr lang="en-US" sz="1500" b="0">
                <a:solidFill>
                  <a:srgbClr val="C9D1D9"/>
                </a:solidFill>
              </a:rPr>
              <a:t>    3     ·  Active Alerts</a:t>
            </a:r>
          </a:p>
          <a:p xmlns:a="http://schemas.openxmlformats.org/drawingml/2006/main">
            <a:r>
              <a:rPr lang="en-US" sz="1500" b="0">
                <a:solidFill>
                  <a:srgbClr val="C9D1D9"/>
                </a:solidFill>
              </a:rPr>
              <a:t>   48 MW  ·  Estimated Curtailment</a:t>
            </a:r>
          </a:p>
          <a:p xmlns:a="http://schemas.openxmlformats.org/drawingml/2006/main">
            <a:r>
              <a:rPr lang="en-US" sz="1500" b="0">
                <a:solidFill>
                  <a:srgbClr val="C9D1D9"/>
                </a:solidFill>
              </a:rPr>
              <a:t> 87.7%   ·  Renewable Asset Health</a:t>
            </a:r>
          </a:p>
        </p:txBody>
      </p:sp>
      <p:sp>
        <p:nvSpPr>
          <p:cNvPr id="100016" name="Features"/>
          <p:cNvSpPr txBox="1"/>
          <p:nvPr/>
        </p:nvSpPr>
        <p:spPr>
          <a:xfrm xmlns:a="http://schemas.openxmlformats.org/drawingml/2006/main">
            <a:off x="6120000" y="1440000"/>
            <a:ext cx="576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DASHBOARD COMPONENTS</a:t>
            </a:r>
          </a:p>
          <a:p xmlns:a="http://schemas.openxmlformats.org/drawingml/2006/main">
            <a:r>
              <a:rPr lang="en-US" sz="1500" b="0">
                <a:solidFill>
                  <a:srgbClr val="C9D1D9"/>
                </a:solidFill>
              </a:rPr>
              <a:t/>
            </a:r>
          </a:p>
          <a:p xmlns:a="http://schemas.openxmlformats.org/drawingml/2006/main">
            <a:r>
              <a:rPr lang="en-US" sz="1500" b="0">
                <a:solidFill>
                  <a:srgbClr val="C9D1D9"/>
                </a:solidFill>
              </a:rPr>
              <a:t>• Demand vs Generation real-time chart</a:t>
            </a:r>
          </a:p>
          <a:p xmlns:a="http://schemas.openxmlformats.org/drawingml/2006/main">
            <a:r>
              <a:rPr lang="en-US" sz="1500" b="0">
                <a:solidFill>
                  <a:srgbClr val="C9D1D9"/>
                </a:solidFill>
              </a:rPr>
              <a:t>• 24h Demand Forecast chart</a:t>
            </a:r>
          </a:p>
          <a:p xmlns:a="http://schemas.openxmlformats.org/drawingml/2006/main">
            <a:r>
              <a:rPr lang="en-US" sz="1500" b="0">
                <a:solidFill>
                  <a:srgbClr val="C9D1D9"/>
                </a:solidFill>
              </a:rPr>
              <a:t>• Solar + Wind generation charts</a:t>
            </a:r>
          </a:p>
          <a:p xmlns:a="http://schemas.openxmlformats.org/drawingml/2006/main">
            <a:r>
              <a:rPr lang="en-US" sz="1500" b="0">
                <a:solidFill>
                  <a:srgbClr val="C9D1D9"/>
                </a:solidFill>
              </a:rPr>
              <a:t>• AI Recommendations panel</a:t>
            </a:r>
          </a:p>
          <a:p xmlns:a="http://schemas.openxmlformats.org/drawingml/2006/main">
            <a:r>
              <a:rPr lang="en-US" sz="1500" b="0">
                <a:solidFill>
                  <a:srgbClr val="C9D1D9"/>
                </a:solidFill>
              </a:rPr>
              <a:t>• Active Alerts with severity badges</a:t>
            </a:r>
          </a:p>
          <a:p xmlns:a="http://schemas.openxmlformats.org/drawingml/2006/main">
            <a:r>
              <a:rPr lang="en-US" sz="1500" b="0">
                <a:solidFill>
                  <a:srgbClr val="C9D1D9"/>
                </a:solidFill>
              </a:rPr>
              <a:t>• Asset Health summary table</a:t>
            </a:r>
          </a:p>
          <a:p xmlns:a="http://schemas.openxmlformats.org/drawingml/2006/main">
            <a:r>
              <a:rPr lang="en-US" sz="1500" b="0">
                <a:solidFill>
                  <a:srgbClr val="C9D1D9"/>
                </a:solidFill>
              </a:rPr>
              <a:t>• Curtailment trend indicator</a:t>
            </a:r>
          </a:p>
          <a:p xmlns:a="http://schemas.openxmlformats.org/drawingml/2006/main">
            <a:r>
              <a:rPr lang="en-US" sz="1500" b="0">
                <a:solidFill>
                  <a:srgbClr val="C9D1D9"/>
                </a:solidFill>
              </a:rPr>
              <a:t>• Grid Balance status card</a:t>
            </a:r>
          </a:p>
          <a:p xmlns:a="http://schemas.openxmlformats.org/drawingml/2006/main">
            <a:r>
              <a:rPr lang="en-US" sz="1500" b="0">
                <a:solidFill>
                  <a:srgbClr val="C9D1D9"/>
                </a:solidFill>
              </a:rPr>
              <a:t>• Carbon intensity (gCO₂/kWh)</a:t>
            </a:r>
          </a:p>
          <a:p xmlns:a="http://schemas.openxmlformats.org/drawingml/2006/main">
            <a:r>
              <a:rPr lang="en-US" sz="1500" b="0">
                <a:solidFill>
                  <a:srgbClr val="C9D1D9"/>
                </a:solidFill>
              </a:rPr>
              <a:t/>
            </a:r>
          </a:p>
          <a:p xmlns:a="http://schemas.openxmlformats.org/drawingml/2006/main">
            <a:r>
              <a:rPr lang="en-US" sz="1500" b="0">
                <a:solidFill>
                  <a:srgbClr val="C9D1D9"/>
                </a:solidFill>
              </a:rPr>
              <a:t>FILTERS: Time Range · Asset · Zone · Alert Severity</a:t>
            </a:r>
          </a:p>
        </p:txBody>
      </p:sp>
    </p:spTree>
  </p:cSld>
</p:sld>
</file>

<file path=ppt/slides/slide5.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17"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05 / 14  —  Page 2</a:t>
            </a:r>
          </a:p>
        </p:txBody>
      </p:sp>
      <p:sp>
        <p:nvSpPr>
          <p:cNvPr id="100018"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Demand Forecast</a:t>
            </a:r>
          </a:p>
        </p:txBody>
      </p:sp>
      <p:sp>
        <p:nvSpPr>
          <p:cNvPr id="100019" name="Metrics"/>
          <p:cNvSpPr txBox="1"/>
          <p:nvPr/>
        </p:nvSpPr>
        <p:spPr>
          <a:xfrm xmlns:a="http://schemas.openxmlformats.org/drawingml/2006/main">
            <a:off x="540000" y="1440000"/>
            <a:ext cx="50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KEY METRICS</a:t>
            </a:r>
          </a:p>
          <a:p xmlns:a="http://schemas.openxmlformats.org/drawingml/2006/main">
            <a:r>
              <a:rPr lang="en-US" sz="1500" b="0">
                <a:solidFill>
                  <a:srgbClr val="C9D1D9"/>
                </a:solidFill>
              </a:rPr>
              <a:t/>
            </a:r>
          </a:p>
          <a:p xmlns:a="http://schemas.openxmlformats.org/drawingml/2006/main">
            <a:r>
              <a:rPr lang="en-US" sz="1500" b="0">
                <a:solidFill>
                  <a:srgbClr val="C9D1D9"/>
                </a:solidFill>
              </a:rPr>
              <a:t>1,724 MW  ·  Forecast Peak Demand</a:t>
            </a:r>
          </a:p>
          <a:p xmlns:a="http://schemas.openxmlformats.org/drawingml/2006/main">
            <a:r>
              <a:rPr lang="en-US" sz="1500" b="0">
                <a:solidFill>
                  <a:srgbClr val="C9D1D9"/>
                </a:solidFill>
              </a:rPr>
              <a:t>1,198 MW  ·  Average Forecast Demand</a:t>
            </a:r>
          </a:p>
          <a:p xmlns:a="http://schemas.openxmlformats.org/drawingml/2006/main">
            <a:r>
              <a:rPr lang="en-US" sz="1500" b="0">
                <a:solidFill>
                  <a:srgbClr val="C9D1D9"/>
                </a:solidFill>
              </a:rPr>
              <a:t>  18.4 MW  ·  MAE (vs actuals)</a:t>
            </a:r>
          </a:p>
          <a:p xmlns:a="http://schemas.openxmlformats.org/drawingml/2006/main">
            <a:r>
              <a:rPr lang="en-US" sz="1500" b="0">
                <a:solidFill>
                  <a:srgbClr val="C9D1D9"/>
                </a:solidFill>
              </a:rPr>
              <a:t>  23.1 MW  ·  RMSE</a:t>
            </a:r>
          </a:p>
          <a:p xmlns:a="http://schemas.openxmlformats.org/drawingml/2006/main">
            <a:r>
              <a:rPr lang="en-US" sz="1500" b="0">
                <a:solidFill>
                  <a:srgbClr val="C9D1D9"/>
                </a:solidFill>
              </a:rPr>
              <a:t>  18:30    ·  Expected Peak Time</a:t>
            </a:r>
          </a:p>
        </p:txBody>
      </p:sp>
      <p:sp>
        <p:nvSpPr>
          <p:cNvPr id="100020" name="Method"/>
          <p:cNvSpPr txBox="1"/>
          <p:nvPr/>
        </p:nvSpPr>
        <p:spPr>
          <a:xfrm xmlns:a="http://schemas.openxmlformats.org/drawingml/2006/main">
            <a:off x="6120000" y="1440000"/>
            <a:ext cx="576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FORECASTING METHOD</a:t>
            </a:r>
          </a:p>
          <a:p xmlns:a="http://schemas.openxmlformats.org/drawingml/2006/main">
            <a:r>
              <a:rPr lang="en-US" sz="1400" b="0">
                <a:solidFill>
                  <a:srgbClr val="C9D1D9"/>
                </a:solidFill>
              </a:rPr>
              <a:t/>
            </a:r>
          </a:p>
          <a:p xmlns:a="http://schemas.openxmlformats.org/drawingml/2006/main">
            <a:r>
              <a:rPr lang="en-US" sz="1400" b="0">
                <a:solidFill>
                  <a:srgbClr val="C9D1D9"/>
                </a:solidFill>
              </a:rPr>
              <a:t>Weighted Moving Average (WMA)</a:t>
            </a:r>
          </a:p>
          <a:p xmlns:a="http://schemas.openxmlformats.org/drawingml/2006/main">
            <a:r>
              <a:rPr lang="en-US" sz="1400" b="0">
                <a:solidFill>
                  <a:srgbClr val="C9D1D9"/>
                </a:solidFill>
              </a:rPr>
              <a:t>• 60% weight — Historical demand</a:t>
            </a:r>
          </a:p>
          <a:p xmlns:a="http://schemas.openxmlformats.org/drawingml/2006/main">
            <a:r>
              <a:rPr lang="en-US" sz="1400" b="0">
                <a:solidFill>
                  <a:srgbClr val="C9D1D9"/>
                </a:solidFill>
              </a:rPr>
              <a:t>• 20% weight — Hour-of-day pattern</a:t>
            </a:r>
          </a:p>
          <a:p xmlns:a="http://schemas.openxmlformats.org/drawingml/2006/main">
            <a:r>
              <a:rPr lang="en-US" sz="1400" b="0">
                <a:solidFill>
                  <a:srgbClr val="C9D1D9"/>
                </a:solidFill>
              </a:rPr>
              <a:t>• 10% weight — Day-of-week pattern</a:t>
            </a:r>
          </a:p>
          <a:p xmlns:a="http://schemas.openxmlformats.org/drawingml/2006/main">
            <a:r>
              <a:rPr lang="en-US" sz="1400" b="0">
                <a:solidFill>
                  <a:srgbClr val="C9D1D9"/>
                </a:solidFill>
              </a:rPr>
              <a:t>•  8% weight — Temperature effect</a:t>
            </a:r>
          </a:p>
          <a:p xmlns:a="http://schemas.openxmlformats.org/drawingml/2006/main">
            <a:r>
              <a:rPr lang="en-US" sz="1400" b="0">
                <a:solidFill>
                  <a:srgbClr val="C9D1D9"/>
                </a:solidFill>
              </a:rPr>
              <a:t>•  2% weight — Random variation</a:t>
            </a:r>
          </a:p>
          <a:p xmlns:a="http://schemas.openxmlformats.org/drawingml/2006/main">
            <a:r>
              <a:rPr lang="en-US" sz="1400" b="0">
                <a:solidFill>
                  <a:srgbClr val="C9D1D9"/>
                </a:solidFill>
              </a:rPr>
              <a:t/>
            </a:r>
          </a:p>
          <a:p xmlns:a="http://schemas.openxmlformats.org/drawingml/2006/main">
            <a:r>
              <a:rPr lang="en-US" sz="1400" b="0">
                <a:solidFill>
                  <a:srgbClr val="C9D1D9"/>
                </a:solidFill>
              </a:rPr>
              <a:t>Confidence Intervals: ±4% (6h) → ±13% (24h)</a:t>
            </a:r>
          </a:p>
          <a:p xmlns:a="http://schemas.openxmlformats.org/drawingml/2006/main">
            <a:r>
              <a:rPr lang="en-US" sz="1400" b="0">
                <a:solidFill>
                  <a:srgbClr val="C9D1D9"/>
                </a:solidFill>
              </a:rPr>
              <a:t>Horizons: 6h · 12h · 24h (user-selectable)</a:t>
            </a:r>
          </a:p>
          <a:p xmlns:a="http://schemas.openxmlformats.org/drawingml/2006/main">
            <a:r>
              <a:rPr lang="en-US" sz="1400" b="0">
                <a:solidFill>
                  <a:srgbClr val="C9D1D9"/>
                </a:solidFill>
              </a:rPr>
              <a:t/>
            </a:r>
          </a:p>
          <a:p xmlns:a="http://schemas.openxmlformats.org/drawingml/2006/main">
            <a:r>
              <a:rPr lang="en-US" sz="1400" b="0">
                <a:solidFill>
                  <a:srgbClr val="C9D1D9"/>
                </a:solidFill>
              </a:rPr>
              <a:t>Spike Detection: &gt;115% of period average</a:t>
            </a:r>
          </a:p>
        </p:txBody>
      </p:sp>
      <p:sp>
        <p:nvSpPr>
          <p:cNvPr id="100021" name="AIInsight"/>
          <p:cNvSpPr txBox="1"/>
          <p:nvPr/>
        </p:nvSpPr>
        <p:spPr>
          <a:xfrm xmlns:a="http://schemas.openxmlformats.org/drawingml/2006/main">
            <a:off x="540000" y="3960000"/>
            <a:ext cx="11160000" cy="14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AI Demand Narrative</a:t>
            </a:r>
          </a:p>
          <a:p xmlns:a="http://schemas.openxmlformats.org/drawingml/2006/main">
            <a:r>
              <a:rPr lang="en-US" sz="1400" b="0">
                <a:solidFill>
                  <a:srgbClr val="C9D1D9"/>
                </a:solidFill>
              </a:rPr>
              <a:t/>
            </a:r>
          </a:p>
          <a:p xmlns:a="http://schemas.openxmlformats.org/drawingml/2006/main">
            <a:r>
              <a:rPr lang="en-US" sz="1400" b="0">
                <a:solidFill>
                  <a:srgbClr val="C9D1D9"/>
                </a:solidFill>
              </a:rPr>
              <a:t>Over the next 24 hours, demand is forecast to average 1,198 MW with a projected peak of 1,724 MW at 18:30 — 44% above the period average. Significant upward demand ramp forecast at 18:30. Flexible generation assets should be pre-positioned.</a:t>
            </a:r>
          </a:p>
          <a:p xmlns:a="http://schemas.openxmlformats.org/drawingml/2006/main">
            <a:r>
              <a:rPr lang="en-US" sz="1400" b="0">
                <a:solidFill>
                  <a:srgbClr val="C9D1D9"/>
                </a:solidFill>
              </a:rPr>
              <a:t/>
            </a:r>
          </a:p>
          <a:p xmlns:a="http://schemas.openxmlformats.org/drawingml/2006/main">
            <a:r>
              <a:rPr lang="en-US" sz="1400" b="0">
                <a:solidFill>
                  <a:srgbClr val="C9D1D9"/>
                </a:solidFill>
              </a:rPr>
              <a:t>⚡ 3 spike periods detected (&gt;115% of average)</a:t>
            </a:r>
          </a:p>
          <a:p xmlns:a="http://schemas.openxmlformats.org/drawingml/2006/main">
            <a:r>
              <a:rPr lang="en-US" sz="1400" b="0">
                <a:solidFill>
                  <a:srgbClr val="C9D1D9"/>
                </a:solidFill>
              </a:rPr>
              <a:t>6/16 18:30 → 1,724 MW  |  6/16 19:00 → 1,698 MW</a:t>
            </a:r>
          </a:p>
        </p:txBody>
      </p:sp>
    </p:spTree>
  </p:cSld>
</p:sld>
</file>

<file path=ppt/slides/slide6.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22"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06 / 14  —  Page 3</a:t>
            </a:r>
          </a:p>
        </p:txBody>
      </p:sp>
      <p:sp>
        <p:nvSpPr>
          <p:cNvPr id="100023"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000" b="1">
                <a:solidFill>
                  <a:srgbClr val="FFFFFF"/>
                </a:solidFill>
              </a:rPr>
              <a:t>☀️💨 Renewable Performance &amp; Anomaly Detection</a:t>
            </a:r>
          </a:p>
        </p:txBody>
      </p:sp>
      <p:sp>
        <p:nvSpPr>
          <p:cNvPr id="100024" name="Solar"/>
          <p:cNvSpPr txBox="1"/>
          <p:nvPr/>
        </p:nvSpPr>
        <p:spPr>
          <a:xfrm xmlns:a="http://schemas.openxmlformats.org/drawingml/2006/main">
            <a:off x="540000" y="1440000"/>
            <a:ext cx="540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SOLAR ASSETS</a:t>
            </a:r>
          </a:p>
          <a:p xmlns:a="http://schemas.openxmlformats.org/drawingml/2006/main">
            <a:r>
              <a:rPr lang="en-US" sz="1400" b="0">
                <a:solidFill>
                  <a:srgbClr val="C9D1D9"/>
                </a:solidFill>
              </a:rPr>
              <a:t/>
            </a:r>
          </a:p>
          <a:p xmlns:a="http://schemas.openxmlformats.org/drawingml/2006/main">
            <a:r>
              <a:rPr lang="en-US" sz="1400" b="0">
                <a:solidFill>
                  <a:srgbClr val="C9D1D9"/>
                </a:solidFill>
              </a:rPr>
              <a:t>⚠ Solar Farm Alpha  |  Zone A  |  200 MW</a:t>
            </a:r>
          </a:p>
          <a:p xmlns:a="http://schemas.openxmlformats.org/drawingml/2006/main">
            <a:r>
              <a:rPr lang="en-US" sz="1400" b="0">
                <a:solidFill>
                  <a:srgbClr val="C9D1D9"/>
                </a:solidFill>
              </a:rPr>
              <a:t>Performance Ratio: 61%  (ANOMALY DETECTED)</a:t>
            </a:r>
          </a:p>
          <a:p xmlns:a="http://schemas.openxmlformats.org/drawingml/2006/main">
            <a:r>
              <a:rPr lang="en-US" sz="1400" b="0">
                <a:solidFill>
                  <a:srgbClr val="C9D1D9"/>
                </a:solidFill>
              </a:rPr>
              <a:t>Actual: 122 MW  vs  Expected: 200 MW</a:t>
            </a:r>
          </a:p>
          <a:p xmlns:a="http://schemas.openxmlformats.org/drawingml/2006/main">
            <a:r>
              <a:rPr lang="en-US" sz="1400" b="0">
                <a:solidFill>
                  <a:srgbClr val="C9D1D9"/>
                </a:solidFill>
              </a:rPr>
              <a:t>Availability: 78%</a:t>
            </a:r>
          </a:p>
          <a:p xmlns:a="http://schemas.openxmlformats.org/drawingml/2006/main">
            <a:r>
              <a:rPr lang="en-US" sz="1400" b="0">
                <a:solidFill>
                  <a:srgbClr val="C9D1D9"/>
                </a:solidFill>
              </a:rPr>
              <a:t>Anomaly: Z-score = -3.2  (CRITICAL)</a:t>
            </a:r>
          </a:p>
          <a:p xmlns:a="http://schemas.openxmlformats.org/drawingml/2006/main">
            <a:r>
              <a:rPr lang="en-US" sz="1400" b="0">
                <a:solidFill>
                  <a:srgbClr val="C9D1D9"/>
                </a:solidFill>
              </a:rPr>
              <a:t/>
            </a:r>
          </a:p>
          <a:p xmlns:a="http://schemas.openxmlformats.org/drawingml/2006/main">
            <a:r>
              <a:rPr lang="en-US" sz="1400" b="0">
                <a:solidFill>
                  <a:srgbClr val="C9D1D9"/>
                </a:solidFill>
              </a:rPr>
              <a:t>✅ Solar Farm Beta  |  Zone B  |  150 MW</a:t>
            </a:r>
          </a:p>
          <a:p xmlns:a="http://schemas.openxmlformats.org/drawingml/2006/main">
            <a:r>
              <a:rPr lang="en-US" sz="1400" b="0">
                <a:solidFill>
                  <a:srgbClr val="C9D1D9"/>
                </a:solidFill>
              </a:rPr>
              <a:t>Performance Ratio: 91%  (NORMAL)</a:t>
            </a:r>
          </a:p>
          <a:p xmlns:a="http://schemas.openxmlformats.org/drawingml/2006/main">
            <a:r>
              <a:rPr lang="en-US" sz="1400" b="0">
                <a:solidFill>
                  <a:srgbClr val="C9D1D9"/>
                </a:solidFill>
              </a:rPr>
              <a:t>Actual: 137 MW  vs  Expected: 150 MW</a:t>
            </a:r>
          </a:p>
          <a:p xmlns:a="http://schemas.openxmlformats.org/drawingml/2006/main">
            <a:r>
              <a:rPr lang="en-US" sz="1400" b="0">
                <a:solidFill>
                  <a:srgbClr val="C9D1D9"/>
                </a:solidFill>
              </a:rPr>
              <a:t/>
            </a:r>
          </a:p>
          <a:p xmlns:a="http://schemas.openxmlformats.org/drawingml/2006/main">
            <a:r>
              <a:rPr lang="en-US" sz="1400" b="0">
                <a:solidFill>
                  <a:srgbClr val="C9D1D9"/>
                </a:solidFill>
              </a:rPr>
              <a:t>✅ Solar Farm Gamma  |  Zone C  |  120 MW</a:t>
            </a:r>
          </a:p>
          <a:p xmlns:a="http://schemas.openxmlformats.org/drawingml/2006/main">
            <a:r>
              <a:rPr lang="en-US" sz="1400" b="0">
                <a:solidFill>
                  <a:srgbClr val="C9D1D9"/>
                </a:solidFill>
              </a:rPr>
              <a:t>Performance Ratio: 87%  (NORMAL)</a:t>
            </a:r>
          </a:p>
          <a:p xmlns:a="http://schemas.openxmlformats.org/drawingml/2006/main">
            <a:r>
              <a:rPr lang="en-US" sz="1400" b="0">
                <a:solidFill>
                  <a:srgbClr val="C9D1D9"/>
                </a:solidFill>
              </a:rPr>
              <a:t>Actual: 104 MW  vs  Expected: 120 MW</a:t>
            </a:r>
          </a:p>
        </p:txBody>
      </p:sp>
      <p:sp>
        <p:nvSpPr>
          <p:cNvPr id="100025" name="Wind"/>
          <p:cNvSpPr txBox="1"/>
          <p:nvPr/>
        </p:nvSpPr>
        <p:spPr>
          <a:xfrm xmlns:a="http://schemas.openxmlformats.org/drawingml/2006/main">
            <a:off x="6480000" y="1440000"/>
            <a:ext cx="5400000" cy="36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WIND ASSETS</a:t>
            </a:r>
          </a:p>
          <a:p xmlns:a="http://schemas.openxmlformats.org/drawingml/2006/main">
            <a:r>
              <a:rPr lang="en-US" sz="1400" b="0">
                <a:solidFill>
                  <a:srgbClr val="C9D1D9"/>
                </a:solidFill>
              </a:rPr>
              <a:t/>
            </a:r>
          </a:p>
          <a:p xmlns:a="http://schemas.openxmlformats.org/drawingml/2006/main">
            <a:r>
              <a:rPr lang="en-US" sz="1400" b="0">
                <a:solidFill>
                  <a:srgbClr val="C9D1D9"/>
                </a:solidFill>
              </a:rPr>
              <a:t>✅ Wind Farm North  |  Zone N  |  180 MW</a:t>
            </a:r>
          </a:p>
          <a:p xmlns:a="http://schemas.openxmlformats.org/drawingml/2006/main">
            <a:r>
              <a:rPr lang="en-US" sz="1400" b="0">
                <a:solidFill>
                  <a:srgbClr val="C9D1D9"/>
                </a:solidFill>
              </a:rPr>
              <a:t>Performance Ratio: 93%  (NORMAL)</a:t>
            </a:r>
          </a:p>
          <a:p xmlns:a="http://schemas.openxmlformats.org/drawingml/2006/main">
            <a:r>
              <a:rPr lang="en-US" sz="1400" b="0">
                <a:solidFill>
                  <a:srgbClr val="C9D1D9"/>
                </a:solidFill>
              </a:rPr>
              <a:t>Actual: 167 MW  vs  Expected: 180 MW</a:t>
            </a:r>
          </a:p>
          <a:p xmlns:a="http://schemas.openxmlformats.org/drawingml/2006/main">
            <a:r>
              <a:rPr lang="en-US" sz="1400" b="0">
                <a:solidFill>
                  <a:srgbClr val="C9D1D9"/>
                </a:solidFill>
              </a:rPr>
              <a:t/>
            </a:r>
          </a:p>
          <a:p xmlns:a="http://schemas.openxmlformats.org/drawingml/2006/main">
            <a:r>
              <a:rPr lang="en-US" sz="1400" b="0">
                <a:solidFill>
                  <a:srgbClr val="C9D1D9"/>
                </a:solidFill>
              </a:rPr>
              <a:t>✅ Wind Farm West  |  Zone W  |  220 MW</a:t>
            </a:r>
          </a:p>
          <a:p xmlns:a="http://schemas.openxmlformats.org/drawingml/2006/main">
            <a:r>
              <a:rPr lang="en-US" sz="1400" b="0">
                <a:solidFill>
                  <a:srgbClr val="C9D1D9"/>
                </a:solidFill>
              </a:rPr>
              <a:t>Performance Ratio: 88%  (NORMAL)</a:t>
            </a:r>
          </a:p>
          <a:p xmlns:a="http://schemas.openxmlformats.org/drawingml/2006/main">
            <a:r>
              <a:rPr lang="en-US" sz="1400" b="0">
                <a:solidFill>
                  <a:srgbClr val="C9D1D9"/>
                </a:solidFill>
              </a:rPr>
              <a:t>Actual: 194 MW  vs  Expected: 220 MW</a:t>
            </a:r>
          </a:p>
          <a:p xmlns:a="http://schemas.openxmlformats.org/drawingml/2006/main">
            <a:r>
              <a:rPr lang="en-US" sz="1400" b="0">
                <a:solidFill>
                  <a:srgbClr val="C9D1D9"/>
                </a:solidFill>
              </a:rPr>
              <a:t/>
            </a:r>
          </a:p>
          <a:p xmlns:a="http://schemas.openxmlformats.org/drawingml/2006/main">
            <a:r>
              <a:rPr lang="en-US" sz="1400" b="0">
                <a:solidFill>
                  <a:srgbClr val="C9D1D9"/>
                </a:solidFill>
              </a:rPr>
              <a:t>🔴 Wind Farm South  |  160 MW  |  MAINTENANCE</a:t>
            </a:r>
          </a:p>
          <a:p xmlns:a="http://schemas.openxmlformats.org/drawingml/2006/main">
            <a:r>
              <a:rPr lang="en-US" sz="1400" b="0">
                <a:solidFill>
                  <a:srgbClr val="C9D1D9"/>
                </a:solidFill>
              </a:rPr>
              <a:t>Performance Ratio: 52%  (DEGRADED)</a:t>
            </a:r>
          </a:p>
          <a:p xmlns:a="http://schemas.openxmlformats.org/drawingml/2006/main">
            <a:r>
              <a:rPr lang="en-US" sz="1400" b="0">
                <a:solidFill>
                  <a:srgbClr val="C9D1D9"/>
                </a:solidFill>
              </a:rPr>
              <a:t>Actual: 83 MW  vs  Expected: 160 MW</a:t>
            </a:r>
          </a:p>
          <a:p xmlns:a="http://schemas.openxmlformats.org/drawingml/2006/main">
            <a:r>
              <a:rPr lang="en-US" sz="1400" b="0">
                <a:solidFill>
                  <a:srgbClr val="C9D1D9"/>
                </a:solidFill>
              </a:rPr>
              <a:t/>
            </a:r>
          </a:p>
          <a:p xmlns:a="http://schemas.openxmlformats.org/drawingml/2006/main">
            <a:r>
              <a:rPr lang="en-US" sz="1400" b="0">
                <a:solidFill>
                  <a:srgbClr val="C9D1D9"/>
                </a:solidFill>
              </a:rPr>
              <a:t>🤖 AI Root Cause — Solar Farm Alpha:</a:t>
            </a:r>
          </a:p>
          <a:p xmlns:a="http://schemas.openxmlformats.org/drawingml/2006/main">
            <a:r>
              <a:rPr lang="en-US" sz="1400" b="0">
                <a:solidFill>
                  <a:srgbClr val="C9D1D9"/>
                </a:solidFill>
              </a:rPr>
              <a:t>1. Panel soiling/dust (prob: 61%)</a:t>
            </a:r>
          </a:p>
          <a:p xmlns:a="http://schemas.openxmlformats.org/drawingml/2006/main">
            <a:r>
              <a:rPr lang="en-US" sz="1400" b="0">
                <a:solidFill>
                  <a:srgbClr val="C9D1D9"/>
                </a:solidFill>
              </a:rPr>
              <a:t>2. Partial shading from vegetation (46%)</a:t>
            </a:r>
          </a:p>
          <a:p xmlns:a="http://schemas.openxmlformats.org/drawingml/2006/main">
            <a:r>
              <a:rPr lang="en-US" sz="1400" b="0">
                <a:solidFill>
                  <a:srgbClr val="C9D1D9"/>
                </a:solidFill>
              </a:rPr>
              <a:t>3. Inverter efficiency loss (31%)</a:t>
            </a:r>
          </a:p>
        </p:txBody>
      </p:sp>
    </p:spTree>
  </p:cSld>
</p:sld>
</file>

<file path=ppt/slides/slide7.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26"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07 / 14  —  Page 4</a:t>
            </a:r>
          </a:p>
        </p:txBody>
      </p:sp>
      <p:sp>
        <p:nvSpPr>
          <p:cNvPr id="100027"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Grid Balance Monitoring</a:t>
            </a:r>
          </a:p>
        </p:txBody>
      </p:sp>
      <p:sp>
        <p:nvSpPr>
          <p:cNvPr id="100028" name="Formula"/>
          <p:cNvSpPr txBox="1"/>
          <p:nvPr/>
        </p:nvSpPr>
        <p:spPr>
          <a:xfrm xmlns:a="http://schemas.openxmlformats.org/drawingml/2006/main">
            <a:off x="540000" y="1440000"/>
            <a:ext cx="11160000" cy="180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600" b="0">
                <a:solidFill>
                  <a:srgbClr val="C9D1D9"/>
                </a:solidFill>
              </a:rPr>
              <a:t>FORMULAS</a:t>
            </a:r>
          </a:p>
          <a:p xmlns:a="http://schemas.openxmlformats.org/drawingml/2006/main">
            <a:r>
              <a:rPr lang="en-US" sz="1600" b="0">
                <a:solidFill>
                  <a:srgbClr val="C9D1D9"/>
                </a:solidFill>
              </a:rPr>
              <a:t/>
            </a:r>
          </a:p>
          <a:p xmlns:a="http://schemas.openxmlformats.org/drawingml/2006/main">
            <a:r>
              <a:rPr lang="en-US" sz="1600" b="0">
                <a:solidFill>
                  <a:srgbClr val="C9D1D9"/>
                </a:solidFill>
              </a:rPr>
              <a:t>Total Generation = Conventional + Solar + Wind</a:t>
            </a:r>
          </a:p>
          <a:p xmlns:a="http://schemas.openxmlformats.org/drawingml/2006/main">
            <a:r>
              <a:rPr lang="en-US" sz="1600" b="0">
                <a:solidFill>
                  <a:srgbClr val="C9D1D9"/>
                </a:solidFill>
              </a:rPr>
              <a:t>= 917 MW + 318 MW + 189 MW = 1,424 MW</a:t>
            </a:r>
          </a:p>
          <a:p xmlns:a="http://schemas.openxmlformats.org/drawingml/2006/main">
            <a:r>
              <a:rPr lang="en-US" sz="1600" b="0">
                <a:solidFill>
                  <a:srgbClr val="C9D1D9"/>
                </a:solidFill>
              </a:rPr>
              <a:t/>
            </a:r>
          </a:p>
          <a:p xmlns:a="http://schemas.openxmlformats.org/drawingml/2006/main">
            <a:r>
              <a:rPr lang="en-US" sz="1600" b="0">
                <a:solidFill>
                  <a:srgbClr val="C9D1D9"/>
                </a:solidFill>
              </a:rPr>
              <a:t>Grid Surplus = Generation − Demand</a:t>
            </a:r>
          </a:p>
          <a:p xmlns:a="http://schemas.openxmlformats.org/drawingml/2006/main">
            <a:r>
              <a:rPr lang="en-US" sz="1600" b="0">
                <a:solidFill>
                  <a:srgbClr val="C9D1D9"/>
                </a:solidFill>
              </a:rPr>
              <a:t>= 1,424 MW − 1,247 MW = +177 MW</a:t>
            </a:r>
          </a:p>
          <a:p xmlns:a="http://schemas.openxmlformats.org/drawingml/2006/main">
            <a:r>
              <a:rPr lang="en-US" sz="1600" b="0">
                <a:solidFill>
                  <a:srgbClr val="C9D1D9"/>
                </a:solidFill>
              </a:rPr>
              <a:t/>
            </a:r>
          </a:p>
          <a:p xmlns:a="http://schemas.openxmlformats.org/drawingml/2006/main">
            <a:r>
              <a:rPr lang="en-US" sz="1600" b="0">
                <a:solidFill>
                  <a:srgbClr val="C9D1D9"/>
                </a:solidFill>
              </a:rPr>
              <a:t>Reserve Margin = Surplus / Demand × 100</a:t>
            </a:r>
          </a:p>
          <a:p xmlns:a="http://schemas.openxmlformats.org/drawingml/2006/main">
            <a:r>
              <a:rPr lang="en-US" sz="1600" b="0">
                <a:solidFill>
                  <a:srgbClr val="C9D1D9"/>
                </a:solidFill>
              </a:rPr>
              <a:t>= 177 / 1,247 × 100 = 14.2%  (Target ≥ 8%)</a:t>
            </a:r>
          </a:p>
        </p:txBody>
      </p:sp>
      <p:sp>
        <p:nvSpPr>
          <p:cNvPr id="100029" name="GridStatus"/>
          <p:cNvSpPr txBox="1"/>
          <p:nvPr/>
        </p:nvSpPr>
        <p:spPr>
          <a:xfrm xmlns:a="http://schemas.openxmlformats.org/drawingml/2006/main">
            <a:off x="540000" y="3600000"/>
            <a:ext cx="504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CURRENT GRID STATUS</a:t>
            </a:r>
          </a:p>
          <a:p xmlns:a="http://schemas.openxmlformats.org/drawingml/2006/main">
            <a:r>
              <a:rPr lang="en-US" sz="1500" b="0">
                <a:solidFill>
                  <a:srgbClr val="C9D1D9"/>
                </a:solidFill>
              </a:rPr>
              <a:t/>
            </a:r>
          </a:p>
          <a:p xmlns:a="http://schemas.openxmlformats.org/drawingml/2006/main">
            <a:r>
              <a:rPr lang="en-US" sz="1500" b="0">
                <a:solidFill>
                  <a:srgbClr val="C9D1D9"/>
                </a:solidFill>
              </a:rPr>
              <a:t>+177 MW  ·  Grid Balance — SURPLUS ✅</a:t>
            </a:r>
          </a:p>
          <a:p xmlns:a="http://schemas.openxmlformats.org/drawingml/2006/main">
            <a:r>
              <a:rPr lang="en-US" sz="1500" b="0">
                <a:solidFill>
                  <a:srgbClr val="C9D1D9"/>
                </a:solidFill>
              </a:rPr>
              <a:t> 14.2%  ·  Reserve Margin — ADEQUATE ✅</a:t>
            </a:r>
          </a:p>
          <a:p xmlns:a="http://schemas.openxmlformats.org/drawingml/2006/main">
            <a:r>
              <a:rPr lang="en-US" sz="1500" b="0">
                <a:solidFill>
                  <a:srgbClr val="C9D1D9"/>
                </a:solidFill>
              </a:rPr>
              <a:t>1,424 MW  ·  Total Generation</a:t>
            </a:r>
          </a:p>
          <a:p xmlns:a="http://schemas.openxmlformats.org/drawingml/2006/main">
            <a:r>
              <a:rPr lang="en-US" sz="1500" b="0">
                <a:solidFill>
                  <a:srgbClr val="C9D1D9"/>
                </a:solidFill>
              </a:rPr>
              <a:t>  35.6%  ·  Renewable Fraction</a:t>
            </a:r>
          </a:p>
          <a:p xmlns:a="http://schemas.openxmlformats.org/drawingml/2006/main">
            <a:r>
              <a:rPr lang="en-US" sz="1500" b="0">
                <a:solidFill>
                  <a:srgbClr val="C9D1D9"/>
                </a:solidFill>
              </a:rPr>
              <a:t> 244 gCO₂e/kWh  ·  Carbon Intensity</a:t>
            </a:r>
          </a:p>
        </p:txBody>
      </p:sp>
      <p:sp>
        <p:nvSpPr>
          <p:cNvPr id="100030" name="GenMix"/>
          <p:cNvSpPr txBox="1"/>
          <p:nvPr/>
        </p:nvSpPr>
        <p:spPr>
          <a:xfrm xmlns:a="http://schemas.openxmlformats.org/drawingml/2006/main">
            <a:off x="6480000" y="3600000"/>
            <a:ext cx="540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GENERATION MIX</a:t>
            </a:r>
          </a:p>
          <a:p xmlns:a="http://schemas.openxmlformats.org/drawingml/2006/main">
            <a:r>
              <a:rPr lang="en-US" sz="1500" b="0">
                <a:solidFill>
                  <a:srgbClr val="C9D1D9"/>
                </a:solidFill>
              </a:rPr>
              <a:t/>
            </a:r>
          </a:p>
          <a:p xmlns:a="http://schemas.openxmlformats.org/drawingml/2006/main">
            <a:r>
              <a:rPr lang="en-US" sz="1500" b="0">
                <a:solidFill>
                  <a:srgbClr val="C9D1D9"/>
                </a:solidFill>
              </a:rPr>
              <a:t>Conventional:  917 MW  =  64%</a:t>
            </a:r>
          </a:p>
          <a:p xmlns:a="http://schemas.openxmlformats.org/drawingml/2006/main">
            <a:r>
              <a:rPr lang="en-US" sz="1500" b="0">
                <a:solidFill>
                  <a:srgbClr val="C9D1D9"/>
                </a:solidFill>
              </a:rPr>
              <a:t>Solar:          318 MW  =  22%</a:t>
            </a:r>
          </a:p>
          <a:p xmlns:a="http://schemas.openxmlformats.org/drawingml/2006/main">
            <a:r>
              <a:rPr lang="en-US" sz="1500" b="0">
                <a:solidFill>
                  <a:srgbClr val="C9D1D9"/>
                </a:solidFill>
              </a:rPr>
              <a:t>Wind:           189 MW  =  14%</a:t>
            </a:r>
          </a:p>
          <a:p xmlns:a="http://schemas.openxmlformats.org/drawingml/2006/main">
            <a:r>
              <a:rPr lang="en-US" sz="1500" b="0">
                <a:solidFill>
                  <a:srgbClr val="C9D1D9"/>
                </a:solidFill>
              </a:rPr>
              <a:t/>
            </a:r>
          </a:p>
          <a:p xmlns:a="http://schemas.openxmlformats.org/drawingml/2006/main">
            <a:r>
              <a:rPr lang="en-US" sz="1500" b="0">
                <a:solidFill>
                  <a:srgbClr val="C9D1D9"/>
                </a:solidFill>
              </a:rPr>
              <a:t>Risk Periods: None in current range</a:t>
            </a:r>
          </a:p>
          <a:p xmlns:a="http://schemas.openxmlformats.org/drawingml/2006/main">
            <a:r>
              <a:rPr lang="en-US" sz="1500" b="0">
                <a:solidFill>
                  <a:srgbClr val="C9D1D9"/>
                </a:solidFill>
              </a:rPr>
              <a:t>All 48 data points show Reserve ≥ 8%</a:t>
            </a:r>
          </a:p>
          <a:p xmlns:a="http://schemas.openxmlformats.org/drawingml/2006/main">
            <a:r>
              <a:rPr lang="en-US" sz="1500" b="0">
                <a:solidFill>
                  <a:srgbClr val="C9D1D9"/>
                </a:solidFill>
              </a:rPr>
              <a:t>Grid Status: NORMAL</a:t>
            </a:r>
          </a:p>
        </p:txBody>
      </p:sp>
    </p:spTree>
  </p:cSld>
</p:sld>
</file>

<file path=ppt/slides/slide8.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31"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08 / 14  —  Page 5</a:t>
            </a:r>
          </a:p>
        </p:txBody>
      </p:sp>
      <p:sp>
        <p:nvSpPr>
          <p:cNvPr id="100032"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AI Insights Centre</a:t>
            </a:r>
          </a:p>
        </p:txBody>
      </p:sp>
      <p:sp>
        <p:nvSpPr>
          <p:cNvPr id="100033" name="Notice"/>
          <p:cNvSpPr txBox="1"/>
          <p:nvPr/>
        </p:nvSpPr>
        <p:spPr>
          <a:xfrm xmlns:a="http://schemas.openxmlformats.org/drawingml/2006/main">
            <a:off x="540000" y="1296000"/>
            <a:ext cx="11160000" cy="432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E93D8"/>
                </a:solidFill>
              </a:rPr>
              <a:t>ℹ️  Rule-Based AI — All responses use deterministic, transparent rule-based logic on simulated grid data. NOT a generative AI model. All outputs are traceable to data and rules.</a:t>
            </a:r>
          </a:p>
        </p:txBody>
      </p:sp>
      <p:sp>
        <p:nvSpPr>
          <p:cNvPr id="100034" name="Chat"/>
          <p:cNvSpPr txBox="1"/>
          <p:nvPr/>
        </p:nvSpPr>
        <p:spPr>
          <a:xfrm xmlns:a="http://schemas.openxmlformats.org/drawingml/2006/main">
            <a:off x="540000" y="1872000"/>
            <a:ext cx="5400000" cy="34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 AI ADVISOR CHATBOT</a:t>
            </a:r>
          </a:p>
          <a:p xmlns:a="http://schemas.openxmlformats.org/drawingml/2006/main">
            <a:r>
              <a:rPr lang="en-US" sz="1300" b="0">
                <a:solidFill>
                  <a:srgbClr val="C9D1D9"/>
                </a:solidFill>
              </a:rPr>
              <a:t/>
            </a:r>
          </a:p>
          <a:p xmlns:a="http://schemas.openxmlformats.org/drawingml/2006/main">
            <a:r>
              <a:rPr lang="en-US" sz="1300" b="0">
                <a:solidFill>
                  <a:srgbClr val="C9D1D9"/>
                </a:solidFill>
              </a:rPr>
              <a:t>Sample Questions &amp; Answers:</a:t>
            </a:r>
          </a:p>
          <a:p xmlns:a="http://schemas.openxmlformats.org/drawingml/2006/main">
            <a:r>
              <a:rPr lang="en-US" sz="1300" b="0">
                <a:solidFill>
                  <a:srgbClr val="C9D1D9"/>
                </a:solidFill>
              </a:rPr>
              <a:t/>
            </a:r>
          </a:p>
          <a:p xmlns:a="http://schemas.openxmlformats.org/drawingml/2006/main">
            <a:r>
              <a:rPr lang="en-US" sz="1300" b="0">
                <a:solidFill>
                  <a:srgbClr val="C9D1D9"/>
                </a:solidFill>
              </a:rPr>
              <a:t>Q: What is the current grid condition?</a:t>
            </a:r>
          </a:p>
          <a:p xmlns:a="http://schemas.openxmlformats.org/drawingml/2006/main">
            <a:r>
              <a:rPr lang="en-US" sz="1300" b="0">
                <a:solidFill>
                  <a:srgbClr val="C9D1D9"/>
                </a:solidFill>
              </a:rPr>
              <a:t>A: Grid operating NORMAL. Demand 1,247 MW, Generation 1,424 MW, Surplus +177 MW, Reserve 14.2%.</a:t>
            </a:r>
          </a:p>
          <a:p xmlns:a="http://schemas.openxmlformats.org/drawingml/2006/main">
            <a:r>
              <a:rPr lang="en-US" sz="1300" b="0">
                <a:solidFill>
                  <a:srgbClr val="C9D1D9"/>
                </a:solidFill>
              </a:rPr>
              <a:t/>
            </a:r>
          </a:p>
          <a:p xmlns:a="http://schemas.openxmlformats.org/drawingml/2006/main">
            <a:r>
              <a:rPr lang="en-US" sz="1300" b="0">
                <a:solidFill>
                  <a:srgbClr val="C9D1D9"/>
                </a:solidFill>
              </a:rPr>
              <a:t>Q: Which renewable asset is underperforming?</a:t>
            </a:r>
          </a:p>
          <a:p xmlns:a="http://schemas.openxmlformats.org/drawingml/2006/main">
            <a:r>
              <a:rPr lang="en-US" sz="1300" b="0">
                <a:solidFill>
                  <a:srgbClr val="C9D1D9"/>
                </a:solidFill>
              </a:rPr>
              <a:t>A: Solar Farm Alpha at 61% of expected output. Z-score: -3.2 (Critical).</a:t>
            </a:r>
          </a:p>
          <a:p xmlns:a="http://schemas.openxmlformats.org/drawingml/2006/main">
            <a:r>
              <a:rPr lang="en-US" sz="1300" b="0">
                <a:solidFill>
                  <a:srgbClr val="C9D1D9"/>
                </a:solidFill>
              </a:rPr>
              <a:t/>
            </a:r>
          </a:p>
          <a:p xmlns:a="http://schemas.openxmlformats.org/drawingml/2006/main">
            <a:r>
              <a:rPr lang="en-US" sz="1300" b="0">
                <a:solidFill>
                  <a:srgbClr val="C9D1D9"/>
                </a:solidFill>
              </a:rPr>
              <a:t>Q: What actions do you recommend right now?</a:t>
            </a:r>
          </a:p>
          <a:p xmlns:a="http://schemas.openxmlformats.org/drawingml/2006/main">
            <a:r>
              <a:rPr lang="en-US" sz="1300" b="0">
                <a:solidFill>
                  <a:srgbClr val="C9D1D9"/>
                </a:solidFill>
              </a:rPr>
              <a:t>A: 1. Inspect Solar Farm Alpha (39% shortfall). 2. Pre-position peaking generation for 18:30–20:00. 3. Shift flexible loads into midday curtailment window.</a:t>
            </a:r>
          </a:p>
        </p:txBody>
      </p:sp>
      <p:sp>
        <p:nvSpPr>
          <p:cNvPr id="100035" name="Insights"/>
          <p:cNvSpPr txBox="1"/>
          <p:nvPr/>
        </p:nvSpPr>
        <p:spPr>
          <a:xfrm xmlns:a="http://schemas.openxmlformats.org/drawingml/2006/main">
            <a:off x="6480000" y="1872000"/>
            <a:ext cx="5400000" cy="34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 AUTO-GENERATED INSIGHTS</a:t>
            </a:r>
          </a:p>
          <a:p xmlns:a="http://schemas.openxmlformats.org/drawingml/2006/main">
            <a:r>
              <a:rPr lang="en-US" sz="1300" b="0">
                <a:solidFill>
                  <a:srgbClr val="C9D1D9"/>
                </a:solidFill>
              </a:rPr>
              <a:t/>
            </a:r>
          </a:p>
          <a:p xmlns:a="http://schemas.openxmlformats.org/drawingml/2006/main">
            <a:r>
              <a:rPr lang="en-US" sz="1300" b="0">
                <a:solidFill>
                  <a:srgbClr val="C9D1D9"/>
                </a:solidFill>
              </a:rPr>
              <a:t>📈 Demand Narrative:</a:t>
            </a:r>
          </a:p>
          <a:p xmlns:a="http://schemas.openxmlformats.org/drawingml/2006/main">
            <a:r>
              <a:rPr lang="en-US" sz="1300" b="0">
                <a:solidFill>
                  <a:srgbClr val="C9D1D9"/>
                </a:solidFill>
              </a:rPr>
              <a:t>Demand forecast avg 1,198 MW, peak 1,724 MW at 18:30. Upward ramp of 142 MW/h — flexible generation should be pre-positioned.</a:t>
            </a:r>
          </a:p>
          <a:p xmlns:a="http://schemas.openxmlformats.org/drawingml/2006/main">
            <a:r>
              <a:rPr lang="en-US" sz="1300" b="0">
                <a:solidFill>
                  <a:srgbClr val="C9D1D9"/>
                </a:solidFill>
              </a:rPr>
              <a:t/>
            </a:r>
          </a:p>
          <a:p xmlns:a="http://schemas.openxmlformats.org/drawingml/2006/main">
            <a:r>
              <a:rPr lang="en-US" sz="1300" b="0">
                <a:solidFill>
                  <a:srgbClr val="C9D1D9"/>
                </a:solidFill>
              </a:rPr>
              <a:t>⚖️ Grid Balance Assessment:</a:t>
            </a:r>
          </a:p>
          <a:p xmlns:a="http://schemas.openxmlformats.org/drawingml/2006/main">
            <a:r>
              <a:rPr lang="en-US" sz="1300" b="0">
                <a:solidFill>
                  <a:srgbClr val="C9D1D9"/>
                </a:solidFill>
              </a:rPr>
              <a:t>Current surplus +177 MW. Reserve margin 14.2%. Renewable fraction 35.6%.</a:t>
            </a:r>
          </a:p>
          <a:p xmlns:a="http://schemas.openxmlformats.org/drawingml/2006/main">
            <a:r>
              <a:rPr lang="en-US" sz="1300" b="0">
                <a:solidFill>
                  <a:srgbClr val="C9D1D9"/>
                </a:solidFill>
              </a:rPr>
              <a:t/>
            </a:r>
          </a:p>
          <a:p xmlns:a="http://schemas.openxmlformats.org/drawingml/2006/main">
            <a:r>
              <a:rPr lang="en-US" sz="1300" b="0">
                <a:solidFill>
                  <a:srgbClr val="C9D1D9"/>
                </a:solidFill>
              </a:rPr>
              <a:t>🔍 Anomaly Summary (3 Detected):</a:t>
            </a:r>
          </a:p>
          <a:p xmlns:a="http://schemas.openxmlformats.org/drawingml/2006/main">
            <a:r>
              <a:rPr lang="en-US" sz="1300" b="0">
                <a:solidFill>
                  <a:srgbClr val="C9D1D9"/>
                </a:solidFill>
              </a:rPr>
              <a:t>• Solar Farm Alpha: -88% deviation (CRITICAL)</a:t>
            </a:r>
          </a:p>
          <a:p xmlns:a="http://schemas.openxmlformats.org/drawingml/2006/main">
            <a:r>
              <a:rPr lang="en-US" sz="1300" b="0">
                <a:solidFill>
                  <a:srgbClr val="C9D1D9"/>
                </a:solidFill>
              </a:rPr>
              <a:t>• Wind Farm South: In maintenance (DEGRADED)</a:t>
            </a:r>
          </a:p>
          <a:p xmlns:a="http://schemas.openxmlformats.org/drawingml/2006/main">
            <a:r>
              <a:rPr lang="en-US" sz="1300" b="0">
                <a:solidFill>
                  <a:srgbClr val="C9D1D9"/>
                </a:solidFill>
              </a:rPr>
              <a:t/>
            </a:r>
          </a:p>
          <a:p xmlns:a="http://schemas.openxmlformats.org/drawingml/2006/main">
            <a:r>
              <a:rPr lang="en-US" sz="1300" b="0">
                <a:solidFill>
                  <a:srgbClr val="C9D1D9"/>
                </a:solidFill>
              </a:rPr>
              <a:t>✂️ Curtailment Alert:</a:t>
            </a:r>
          </a:p>
          <a:p xmlns:a="http://schemas.openxmlformats.org/drawingml/2006/main">
            <a:r>
              <a:rPr lang="en-US" sz="1300" b="0">
                <a:solidFill>
                  <a:srgbClr val="C9D1D9"/>
                </a:solidFill>
              </a:rPr>
              <a:t>1,847 MW curtailed. 80% recoverable via flex load + storage dispatch.</a:t>
            </a:r>
          </a:p>
        </p:txBody>
      </p:sp>
    </p:spTree>
  </p:cSld>
</p:sld>
</file>

<file path=ppt/slides/slide9.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36"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09 / 14  —  Page 6</a:t>
            </a:r>
          </a:p>
        </p:txBody>
      </p:sp>
      <p:sp>
        <p:nvSpPr>
          <p:cNvPr id="100037"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Curtailment Optimisation</a:t>
            </a:r>
          </a:p>
        </p:txBody>
      </p:sp>
      <p:sp>
        <p:nvSpPr>
          <p:cNvPr id="100038" name="Formula"/>
          <p:cNvSpPr txBox="1"/>
          <p:nvPr/>
        </p:nvSpPr>
        <p:spPr>
          <a:xfrm xmlns:a="http://schemas.openxmlformats.org/drawingml/2006/main">
            <a:off x="540000" y="1440000"/>
            <a:ext cx="11160000" cy="198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FORMULA</a:t>
            </a:r>
          </a:p>
          <a:p xmlns:a="http://schemas.openxmlformats.org/drawingml/2006/main">
            <a:r>
              <a:rPr lang="en-US" sz="1500" b="0">
                <a:solidFill>
                  <a:srgbClr val="C9D1D9"/>
                </a:solidFill>
              </a:rPr>
              <a:t>Curtailment = max(0, Available Renewable − Utilised Renewable)</a:t>
            </a:r>
          </a:p>
          <a:p xmlns:a="http://schemas.openxmlformats.org/drawingml/2006/main">
            <a:r>
              <a:rPr lang="en-US" sz="1500" b="0">
                <a:solidFill>
                  <a:srgbClr val="C9D1D9"/>
                </a:solidFill>
              </a:rPr>
              <a:t>Curtailment % = Curtailed / Available × 100</a:t>
            </a:r>
          </a:p>
          <a:p xmlns:a="http://schemas.openxmlformats.org/drawingml/2006/main">
            <a:r>
              <a:rPr lang="en-US" sz="1500" b="0">
                <a:solidFill>
                  <a:srgbClr val="C9D1D9"/>
                </a:solidFill>
              </a:rPr>
              <a:t/>
            </a:r>
          </a:p>
          <a:p xmlns:a="http://schemas.openxmlformats.org/drawingml/2006/main">
            <a:r>
              <a:rPr lang="en-US" sz="1500" b="0">
                <a:solidFill>
                  <a:srgbClr val="C9D1D9"/>
                </a:solidFill>
              </a:rPr>
              <a:t>KEY METRICS</a:t>
            </a:r>
          </a:p>
          <a:p xmlns:a="http://schemas.openxmlformats.org/drawingml/2006/main">
            <a:r>
              <a:rPr lang="en-US" sz="1500" b="0">
                <a:solidFill>
                  <a:srgbClr val="C9D1D9"/>
                </a:solidFill>
              </a:rPr>
              <a:t>1,847 MW  ·  Total Curtailed (24h)</a:t>
            </a:r>
          </a:p>
          <a:p xmlns:a="http://schemas.openxmlformats.org/drawingml/2006/main">
            <a:r>
              <a:rPr lang="en-US" sz="1500" b="0">
                <a:solidFill>
                  <a:srgbClr val="C9D1D9"/>
                </a:solidFill>
              </a:rPr>
              <a:t>    3.8%  ·  Curtailment Percentage</a:t>
            </a:r>
          </a:p>
          <a:p xmlns:a="http://schemas.openxmlformats.org/drawingml/2006/main">
            <a:r>
              <a:rPr lang="en-US" sz="1500" b="0">
                <a:solidFill>
                  <a:srgbClr val="C9D1D9"/>
                </a:solidFill>
              </a:rPr>
              <a:t>1,478 MW  ·  Recoverable (80%)</a:t>
            </a:r>
          </a:p>
          <a:p xmlns:a="http://schemas.openxmlformats.org/drawingml/2006/main">
            <a:r>
              <a:rPr lang="en-US" sz="1500" b="0">
                <a:solidFill>
                  <a:srgbClr val="C9D1D9"/>
                </a:solidFill>
              </a:rPr>
              <a:t>  369 MW  ·  Unavoidable</a:t>
            </a:r>
          </a:p>
          <a:p xmlns:a="http://schemas.openxmlformats.org/drawingml/2006/main">
            <a:r>
              <a:rPr lang="en-US" sz="1500" b="0">
                <a:solidFill>
                  <a:srgbClr val="C9D1D9"/>
                </a:solidFill>
              </a:rPr>
              <a:t>10:00–14:00  ·  Peak Curtailment Window (Solar Surplus)</a:t>
            </a:r>
          </a:p>
        </p:txBody>
      </p:sp>
      <p:sp>
        <p:nvSpPr>
          <p:cNvPr id="100039" name="Plan"/>
          <p:cNvSpPr txBox="1"/>
          <p:nvPr/>
        </p:nvSpPr>
        <p:spPr>
          <a:xfrm xmlns:a="http://schemas.openxmlformats.org/drawingml/2006/main">
            <a:off x="540000" y="3780000"/>
            <a:ext cx="11160000" cy="21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AI CURTAILMENT MINIMISATION PLAN</a:t>
            </a:r>
          </a:p>
          <a:p xmlns:a="http://schemas.openxmlformats.org/drawingml/2006/main">
            <a:r>
              <a:rPr lang="en-US" sz="1400" b="0">
                <a:solidFill>
                  <a:srgbClr val="C9D1D9"/>
                </a:solidFill>
              </a:rPr>
              <a:t/>
            </a:r>
          </a:p>
          <a:p xmlns:a="http://schemas.openxmlformats.org/drawingml/2006/main">
            <a:r>
              <a:rPr lang="en-US" sz="1400" b="0">
                <a:solidFill>
                  <a:srgbClr val="C9D1D9"/>
                </a:solidFill>
              </a:rPr>
              <a:t>1. Flexible Load Shifting  →  +1,016 MW recovery</a:t>
            </a:r>
          </a:p>
          <a:p xmlns:a="http://schemas.openxmlformats.org/drawingml/2006/main">
            <a:r>
              <a:rPr lang="en-US" sz="1400" b="0">
                <a:solidFill>
                  <a:srgbClr val="C9D1D9"/>
                </a:solidFill>
              </a:rPr>
              <a:t>   Reschedule EV charging, water heating, industrial loads</a:t>
            </a:r>
          </a:p>
          <a:p xmlns:a="http://schemas.openxmlformats.org/drawingml/2006/main">
            <a:r>
              <a:rPr lang="en-US" sz="1400" b="0">
                <a:solidFill>
                  <a:srgbClr val="C9D1D9"/>
                </a:solidFill>
              </a:rPr>
              <a:t>   Time to implement: 30 minutes</a:t>
            </a:r>
          </a:p>
          <a:p xmlns:a="http://schemas.openxmlformats.org/drawingml/2006/main">
            <a:r>
              <a:rPr lang="en-US" sz="1400" b="0">
                <a:solidFill>
                  <a:srgbClr val="C9D1D9"/>
                </a:solidFill>
              </a:rPr>
              <a:t/>
            </a:r>
          </a:p>
          <a:p xmlns:a="http://schemas.openxmlformats.org/drawingml/2006/main">
            <a:r>
              <a:rPr lang="en-US" sz="1400" b="0">
                <a:solidFill>
                  <a:srgbClr val="C9D1D9"/>
                </a:solidFill>
              </a:rPr>
              <a:t>2. Grid-Scale Storage Dispatch  →  +462 MW recovery</a:t>
            </a:r>
          </a:p>
          <a:p xmlns:a="http://schemas.openxmlformats.org/drawingml/2006/main">
            <a:r>
              <a:rPr lang="en-US" sz="1400" b="0">
                <a:solidFill>
                  <a:srgbClr val="C9D1D9"/>
                </a:solidFill>
              </a:rPr>
              <a:t>   Activate battery/pumped hydro charging during curtailment</a:t>
            </a:r>
          </a:p>
          <a:p xmlns:a="http://schemas.openxmlformats.org/drawingml/2006/main">
            <a:r>
              <a:rPr lang="en-US" sz="1400" b="0">
                <a:solidFill>
                  <a:srgbClr val="C9D1D9"/>
                </a:solidFill>
              </a:rPr>
              <a:t>   Time to implement: &lt;5 minutes</a:t>
            </a:r>
          </a:p>
          <a:p xmlns:a="http://schemas.openxmlformats.org/drawingml/2006/main">
            <a:r>
              <a:rPr lang="en-US" sz="1400" b="0">
                <a:solidFill>
                  <a:srgbClr val="C9D1D9"/>
                </a:solidFill>
              </a:rPr>
              <a:t/>
            </a:r>
          </a:p>
          <a:p xmlns:a="http://schemas.openxmlformats.org/drawingml/2006/main">
            <a:r>
              <a:rPr lang="en-US" sz="1400" b="0">
                <a:solidFill>
                  <a:srgbClr val="C9D1D9"/>
                </a:solidFill>
              </a:rPr>
              <a:t>3. Interconnector Export  →  +277 MW recovery</a:t>
            </a:r>
          </a:p>
          <a:p xmlns:a="http://schemas.openxmlformats.org/drawingml/2006/main">
            <a:r>
              <a:rPr lang="en-US" sz="1400" b="0">
                <a:solidFill>
                  <a:srgbClr val="C9D1D9"/>
                </a:solidFill>
              </a:rPr>
              <a:t>   Request increased export allocation to neighbouring grid</a:t>
            </a:r>
          </a:p>
          <a:p xmlns:a="http://schemas.openxmlformats.org/drawingml/2006/main">
            <a:r>
              <a:rPr lang="en-US" sz="1400" b="0">
                <a:solidFill>
                  <a:srgbClr val="C9D1D9"/>
                </a:solidFill>
              </a:rPr>
              <a:t>   Time to implement: 1–2 hours</a:t>
            </a:r>
          </a:p>
          <a:p xmlns:a="http://schemas.openxmlformats.org/drawingml/2006/main">
            <a:r>
              <a:rPr lang="en-US" sz="1400" b="0">
                <a:solidFill>
                  <a:srgbClr val="C9D1D9"/>
                </a:solidFill>
              </a:rPr>
              <a:t/>
            </a:r>
          </a:p>
          <a:p xmlns:a="http://schemas.openxmlformats.org/drawingml/2006/main">
            <a:r>
              <a:rPr lang="en-US" sz="1400" b="0">
                <a:solidFill>
                  <a:srgbClr val="C9D1D9"/>
                </a:solidFill>
              </a:rPr>
              <a:t>4. Demand Response Programmes  →  Additional opportunity</a:t>
            </a:r>
          </a:p>
          <a:p xmlns:a="http://schemas.openxmlformats.org/drawingml/2006/main">
            <a:r>
              <a:rPr lang="en-US" sz="1400" b="0">
                <a:solidFill>
                  <a:srgbClr val="C9D1D9"/>
                </a:solidFill>
              </a:rPr>
              <a:t>   Coordinate with industrial consumers for voluntary reduction</a:t>
            </a:r>
          </a:p>
        </p:txBody>
      </p:sp>
    </p:spTree>
  </p:cSld>
</p:sld>
</file>

<file path=ppt/slides/slide10.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40"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10 / 14  —  Page 7</a:t>
            </a:r>
          </a:p>
        </p:txBody>
      </p:sp>
      <p:sp>
        <p:nvSpPr>
          <p:cNvPr id="100041"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Operator Optimisation Brief</a:t>
            </a:r>
          </a:p>
        </p:txBody>
      </p:sp>
      <p:sp>
        <p:nvSpPr>
          <p:cNvPr id="100042" name="Header"/>
          <p:cNvSpPr txBox="1"/>
          <p:nvPr/>
        </p:nvSpPr>
        <p:spPr>
          <a:xfrm xmlns:a="http://schemas.openxmlformats.org/drawingml/2006/main">
            <a:off x="540000" y="1296000"/>
            <a:ext cx="11160000" cy="7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500" b="0">
                <a:solidFill>
                  <a:srgbClr val="C9D1D9"/>
                </a:solidFill>
              </a:rPr>
              <a:t>⚡ GridWise AI — Operational Status Report</a:t>
            </a:r>
          </a:p>
          <a:p xmlns:a="http://schemas.openxmlformats.org/drawingml/2006/main">
            <a:r>
              <a:rPr lang="en-US" sz="1500" b="0">
                <a:solidFill>
                  <a:srgbClr val="C9D1D9"/>
                </a:solidFill>
              </a:rPr>
              <a:t>Simulated Data  ·  Rule-Based AI Analysis  ·  Generated: Monday, 15 June 2026 at 10:30</a:t>
            </a:r>
          </a:p>
          <a:p xmlns:a="http://schemas.openxmlformats.org/drawingml/2006/main">
            <a:r>
              <a:rPr lang="en-US" sz="1500" b="0">
                <a:solidFill>
                  <a:srgbClr val="C9D1D9"/>
                </a:solidFill>
              </a:rPr>
              <a:t>Grid: NORMAL  ✅          Active Warnings: 2  ⚠</a:t>
            </a:r>
          </a:p>
        </p:txBody>
      </p:sp>
      <p:sp>
        <p:nvSpPr>
          <p:cNvPr id="100043" name="Sections1"/>
          <p:cNvSpPr txBox="1"/>
          <p:nvPr/>
        </p:nvSpPr>
        <p:spPr>
          <a:xfrm xmlns:a="http://schemas.openxmlformats.org/drawingml/2006/main">
            <a:off x="540000" y="2160000"/>
            <a:ext cx="5400000" cy="32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A. EXECUTIVE SUMMARY</a:t>
            </a:r>
          </a:p>
          <a:p xmlns:a="http://schemas.openxmlformats.org/drawingml/2006/main">
            <a:r>
              <a:rPr lang="en-US" sz="1300" b="0">
                <a:solidFill>
                  <a:srgbClr val="C9D1D9"/>
                </a:solidFill>
              </a:rPr>
              <a:t>Grid operating NORMAL. Demand 1,247 MW vs Generation 1,424 MW. Reserve margin 14.2%. 2 warnings.</a:t>
            </a:r>
          </a:p>
          <a:p xmlns:a="http://schemas.openxmlformats.org/drawingml/2006/main">
            <a:r>
              <a:rPr lang="en-US" sz="1300" b="0">
                <a:solidFill>
                  <a:srgbClr val="C9D1D9"/>
                </a:solidFill>
              </a:rPr>
              <a:t/>
            </a:r>
          </a:p>
          <a:p xmlns:a="http://schemas.openxmlformats.org/drawingml/2006/main">
            <a:r>
              <a:rPr lang="en-US" sz="1300" b="0">
                <a:solidFill>
                  <a:srgbClr val="C9D1D9"/>
                </a:solidFill>
              </a:rPr>
              <a:t>B. DEMAND &amp; LOAD SUMMARY</a:t>
            </a:r>
          </a:p>
          <a:p xmlns:a="http://schemas.openxmlformats.org/drawingml/2006/main">
            <a:r>
              <a:rPr lang="en-US" sz="1300" b="0">
                <a:solidFill>
                  <a:srgbClr val="C9D1D9"/>
                </a:solidFill>
              </a:rPr>
              <a:t>Current 1,247 MW. 24h avg 1,089 MW. Peak 1,724 MW at 18:30. 3 spike periods detected.</a:t>
            </a:r>
          </a:p>
          <a:p xmlns:a="http://schemas.openxmlformats.org/drawingml/2006/main">
            <a:r>
              <a:rPr lang="en-US" sz="1300" b="0">
                <a:solidFill>
                  <a:srgbClr val="C9D1D9"/>
                </a:solidFill>
              </a:rPr>
              <a:t/>
            </a:r>
          </a:p>
          <a:p xmlns:a="http://schemas.openxmlformats.org/drawingml/2006/main">
            <a:r>
              <a:rPr lang="en-US" sz="1300" b="0">
                <a:solidFill>
                  <a:srgbClr val="C9D1D9"/>
                </a:solidFill>
              </a:rPr>
              <a:t>C. GENERATION MIX</a:t>
            </a:r>
          </a:p>
          <a:p xmlns:a="http://schemas.openxmlformats.org/drawingml/2006/main">
            <a:r>
              <a:rPr lang="en-US" sz="1300" b="0">
                <a:solidFill>
                  <a:srgbClr val="C9D1D9"/>
                </a:solidFill>
              </a:rPr>
              <a:t>Solar 318 MW · Wind 189 MW · Conventional 917 MW. Renewable fraction 35.6%. Carbon 244 gCO₂/kWh.</a:t>
            </a:r>
          </a:p>
          <a:p xmlns:a="http://schemas.openxmlformats.org/drawingml/2006/main">
            <a:r>
              <a:rPr lang="en-US" sz="1300" b="0">
                <a:solidFill>
                  <a:srgbClr val="C9D1D9"/>
                </a:solidFill>
              </a:rPr>
              <a:t/>
            </a:r>
          </a:p>
          <a:p xmlns:a="http://schemas.openxmlformats.org/drawingml/2006/main">
            <a:r>
              <a:rPr lang="en-US" sz="1300" b="0">
                <a:solidFill>
                  <a:srgbClr val="C9D1D9"/>
                </a:solidFill>
              </a:rPr>
              <a:t>D. GRID BALANCE</a:t>
            </a:r>
          </a:p>
          <a:p xmlns:a="http://schemas.openxmlformats.org/drawingml/2006/main">
            <a:r>
              <a:rPr lang="en-US" sz="1300" b="0">
                <a:solidFill>
                  <a:srgbClr val="C9D1D9"/>
                </a:solidFill>
              </a:rPr>
              <a:t>Surplus +177 MW. Reserve margin 14.2% (target ≥8%). Curtailment 1,847 MW over 24h.</a:t>
            </a:r>
          </a:p>
        </p:txBody>
      </p:sp>
      <p:sp>
        <p:nvSpPr>
          <p:cNvPr id="100044" name="Sections2"/>
          <p:cNvSpPr txBox="1"/>
          <p:nvPr/>
        </p:nvSpPr>
        <p:spPr>
          <a:xfrm xmlns:a="http://schemas.openxmlformats.org/drawingml/2006/main">
            <a:off x="6480000" y="2160000"/>
            <a:ext cx="5400000" cy="324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E. RENEWABLE ASSET PERFORMANCE</a:t>
            </a:r>
          </a:p>
          <a:p xmlns:a="http://schemas.openxmlformats.org/drawingml/2006/main">
            <a:r>
              <a:rPr lang="en-US" sz="1300" b="0">
                <a:solidFill>
                  <a:srgbClr val="C9D1D9"/>
                </a:solidFill>
              </a:rPr>
              <a:t>Fleet avg 87.7% availability. Solar Farm Alpha flagged for underperformance investigation.</a:t>
            </a:r>
          </a:p>
          <a:p xmlns:a="http://schemas.openxmlformats.org/drawingml/2006/main">
            <a:r>
              <a:rPr lang="en-US" sz="1300" b="0">
                <a:solidFill>
                  <a:srgbClr val="C9D1D9"/>
                </a:solidFill>
              </a:rPr>
              <a:t/>
            </a:r>
          </a:p>
          <a:p xmlns:a="http://schemas.openxmlformats.org/drawingml/2006/main">
            <a:r>
              <a:rPr lang="en-US" sz="1300" b="0">
                <a:solidFill>
                  <a:srgbClr val="C9D1D9"/>
                </a:solidFill>
              </a:rPr>
              <a:t>F. ANOMALY DETECTION</a:t>
            </a:r>
          </a:p>
          <a:p xmlns:a="http://schemas.openxmlformats.org/drawingml/2006/main">
            <a:r>
              <a:rPr lang="en-US" sz="1300" b="0">
                <a:solidFill>
                  <a:srgbClr val="C9D1D9"/>
                </a:solidFill>
              </a:rPr>
              <a:t>3 anomalies detected. Primary: Solar Farm Alpha at 61% — suspected panel soiling.</a:t>
            </a:r>
          </a:p>
          <a:p xmlns:a="http://schemas.openxmlformats.org/drawingml/2006/main">
            <a:r>
              <a:rPr lang="en-US" sz="1300" b="0">
                <a:solidFill>
                  <a:srgbClr val="C9D1D9"/>
                </a:solidFill>
              </a:rPr>
              <a:t/>
            </a:r>
          </a:p>
          <a:p xmlns:a="http://schemas.openxmlformats.org/drawingml/2006/main">
            <a:r>
              <a:rPr lang="en-US" sz="1300" b="0">
                <a:solidFill>
                  <a:srgbClr val="C9D1D9"/>
                </a:solidFill>
              </a:rPr>
              <a:t>G. CURTAILMENT ANALYSIS</a:t>
            </a:r>
          </a:p>
          <a:p xmlns:a="http://schemas.openxmlformats.org/drawingml/2006/main">
            <a:r>
              <a:rPr lang="en-US" sz="1300" b="0">
                <a:solidFill>
                  <a:srgbClr val="C9D1D9"/>
                </a:solidFill>
              </a:rPr>
              <a:t>1,847 MW curtailed. 80% recoverable via flex load (1,016 MW) and storage (462 MW).</a:t>
            </a:r>
          </a:p>
          <a:p xmlns:a="http://schemas.openxmlformats.org/drawingml/2006/main">
            <a:r>
              <a:rPr lang="en-US" sz="1300" b="0">
                <a:solidFill>
                  <a:srgbClr val="C9D1D9"/>
                </a:solidFill>
              </a:rPr>
              <a:t/>
            </a:r>
          </a:p>
          <a:p xmlns:a="http://schemas.openxmlformats.org/drawingml/2006/main">
            <a:r>
              <a:rPr lang="en-US" sz="1300" b="0">
                <a:solidFill>
                  <a:srgbClr val="C9D1D9"/>
                </a:solidFill>
              </a:rPr>
              <a:t>H. AI RECOMMENDATIONS</a:t>
            </a:r>
          </a:p>
          <a:p xmlns:a="http://schemas.openxmlformats.org/drawingml/2006/main">
            <a:r>
              <a:rPr lang="en-US" sz="1300" b="0">
                <a:solidFill>
                  <a:srgbClr val="C9D1D9"/>
                </a:solidFill>
              </a:rPr>
              <a:t>1. Dispatch maintenance to Solar Farm Alpha</a:t>
            </a:r>
          </a:p>
          <a:p xmlns:a="http://schemas.openxmlformats.org/drawingml/2006/main">
            <a:r>
              <a:rPr lang="en-US" sz="1300" b="0">
                <a:solidFill>
                  <a:srgbClr val="C9D1D9"/>
                </a:solidFill>
              </a:rPr>
              <a:t>2. Pre-position peakers for 18:30 demand peak</a:t>
            </a:r>
          </a:p>
          <a:p xmlns:a="http://schemas.openxmlformats.org/drawingml/2006/main">
            <a:r>
              <a:rPr lang="en-US" sz="1300" b="0">
                <a:solidFill>
                  <a:srgbClr val="C9D1D9"/>
                </a:solidFill>
              </a:rPr>
              <a:t>3. Activate demand response for midday curtailment window</a:t>
            </a:r>
          </a:p>
          <a:p xmlns:a="http://schemas.openxmlformats.org/drawingml/2006/main">
            <a:r>
              <a:rPr lang="en-US" sz="1300" b="0">
                <a:solidFill>
                  <a:srgbClr val="C9D1D9"/>
                </a:solidFill>
              </a:rPr>
              <a:t>4. Review Wind Farm South maintenance timeline</a:t>
            </a:r>
          </a:p>
          <a:p xmlns:a="http://schemas.openxmlformats.org/drawingml/2006/main">
            <a:r>
              <a:rPr lang="en-US" sz="1300" b="0">
                <a:solidFill>
                  <a:srgbClr val="C9D1D9"/>
                </a:solidFill>
              </a:rPr>
              <a:t/>
            </a:r>
          </a:p>
          <a:p xmlns:a="http://schemas.openxmlformats.org/drawingml/2006/main">
            <a:r>
              <a:rPr lang="en-US" sz="1300" b="0">
                <a:solidFill>
                  <a:srgbClr val="C9D1D9"/>
                </a:solidFill>
              </a:rPr>
              <a:t>Buttons: Generate Brief  ·  Print/PDF  ·  Copy to Clipboard</a:t>
            </a:r>
          </a:p>
        </p:txBody>
      </p:sp>
    </p:spTree>
  </p:cSld>
</p:sld>
</file>

<file path=ppt/slides/slide11.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45"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11 / 14  —  Page 8</a:t>
            </a:r>
          </a:p>
        </p:txBody>
      </p:sp>
      <p:sp>
        <p:nvSpPr>
          <p:cNvPr id="100046"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Data Simulation Centre</a:t>
            </a:r>
          </a:p>
        </p:txBody>
      </p:sp>
      <p:sp>
        <p:nvSpPr>
          <p:cNvPr id="100047" name="Scenarios"/>
          <p:cNvSpPr txBox="1"/>
          <p:nvPr/>
        </p:nvSpPr>
        <p:spPr>
          <a:xfrm xmlns:a="http://schemas.openxmlformats.org/drawingml/2006/main">
            <a:off x="540000" y="1440000"/>
            <a:ext cx="5400000" cy="39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 QUICK SCENARIO TRIGGERS</a:t>
            </a:r>
          </a:p>
          <a:p xmlns:a="http://schemas.openxmlformats.org/drawingml/2006/main">
            <a:r>
              <a:rPr lang="en-US" sz="1400" b="0">
                <a:solidFill>
                  <a:srgbClr val="C9D1D9"/>
                </a:solidFill>
              </a:rPr>
              <a:t/>
            </a:r>
          </a:p>
          <a:p xmlns:a="http://schemas.openxmlformats.org/drawingml/2006/main">
            <a:r>
              <a:rPr lang="en-US" sz="1400" b="0">
                <a:solidFill>
                  <a:srgbClr val="C9D1D9"/>
                </a:solidFill>
              </a:rPr>
              <a:t>🔴 Demand Spike (+28%)</a:t>
            </a:r>
          </a:p>
          <a:p xmlns:a="http://schemas.openxmlformats.org/drawingml/2006/main">
            <a:r>
              <a:rPr lang="en-US" sz="1400" b="0">
                <a:solidFill>
                  <a:srgbClr val="C9D1D9"/>
                </a:solidFill>
              </a:rPr>
              <a:t>Demand rises to 1,596 MW, reserve drops to 3.8%</a:t>
            </a:r>
          </a:p>
          <a:p xmlns:a="http://schemas.openxmlformats.org/drawingml/2006/main">
            <a:r>
              <a:rPr lang="en-US" sz="1400" b="0">
                <a:solidFill>
                  <a:srgbClr val="C9D1D9"/>
                </a:solidFill>
              </a:rPr>
              <a:t/>
            </a:r>
          </a:p>
          <a:p xmlns:a="http://schemas.openxmlformats.org/drawingml/2006/main">
            <a:r>
              <a:rPr lang="en-US" sz="1400" b="0">
                <a:solidFill>
                  <a:srgbClr val="C9D1D9"/>
                </a:solidFill>
              </a:rPr>
              <a:t>🟡 High Demand (+12%)</a:t>
            </a:r>
          </a:p>
          <a:p xmlns:a="http://schemas.openxmlformats.org/drawingml/2006/main">
            <a:r>
              <a:rPr lang="en-US" sz="1400" b="0">
                <a:solidFill>
                  <a:srgbClr val="C9D1D9"/>
                </a:solidFill>
              </a:rPr>
              <a:t>Moderate demand increase, all pages update</a:t>
            </a:r>
          </a:p>
          <a:p xmlns:a="http://schemas.openxmlformats.org/drawingml/2006/main">
            <a:r>
              <a:rPr lang="en-US" sz="1400" b="0">
                <a:solidFill>
                  <a:srgbClr val="C9D1D9"/>
                </a:solidFill>
              </a:rPr>
              <a:t/>
            </a:r>
          </a:p>
          <a:p xmlns:a="http://schemas.openxmlformats.org/drawingml/2006/main">
            <a:r>
              <a:rPr lang="en-US" sz="1400" b="0">
                <a:solidFill>
                  <a:srgbClr val="C9D1D9"/>
                </a:solidFill>
              </a:rPr>
              <a:t>☀️ Solar Underperformance (−60%)</a:t>
            </a:r>
          </a:p>
          <a:p xmlns:a="http://schemas.openxmlformats.org/drawingml/2006/main">
            <a:r>
              <a:rPr lang="en-US" sz="1400" b="0">
                <a:solidFill>
                  <a:srgbClr val="C9D1D9"/>
                </a:solidFill>
              </a:rPr>
              <a:t>Solar output drops, anomalies trigger, curtailment falls</a:t>
            </a:r>
          </a:p>
          <a:p xmlns:a="http://schemas.openxmlformats.org/drawingml/2006/main">
            <a:r>
              <a:rPr lang="en-US" sz="1400" b="0">
                <a:solidFill>
                  <a:srgbClr val="C9D1D9"/>
                </a:solidFill>
              </a:rPr>
              <a:t/>
            </a:r>
          </a:p>
          <a:p xmlns:a="http://schemas.openxmlformats.org/drawingml/2006/main">
            <a:r>
              <a:rPr lang="en-US" sz="1400" b="0">
                <a:solidFill>
                  <a:srgbClr val="C9D1D9"/>
                </a:solidFill>
              </a:rPr>
              <a:t>💨 Wind Underperformance (−45%)</a:t>
            </a:r>
          </a:p>
          <a:p xmlns:a="http://schemas.openxmlformats.org/drawingml/2006/main">
            <a:r>
              <a:rPr lang="en-US" sz="1400" b="0">
                <a:solidFill>
                  <a:srgbClr val="C9D1D9"/>
                </a:solidFill>
              </a:rPr>
              <a:t>Wind output drops, grid balance shifts</a:t>
            </a:r>
          </a:p>
          <a:p xmlns:a="http://schemas.openxmlformats.org/drawingml/2006/main">
            <a:r>
              <a:rPr lang="en-US" sz="1400" b="0">
                <a:solidFill>
                  <a:srgbClr val="C9D1D9"/>
                </a:solidFill>
              </a:rPr>
              <a:t/>
            </a:r>
          </a:p>
          <a:p xmlns:a="http://schemas.openxmlformats.org/drawingml/2006/main">
            <a:r>
              <a:rPr lang="en-US" sz="1400" b="0">
                <a:solidFill>
                  <a:srgbClr val="C9D1D9"/>
                </a:solidFill>
              </a:rPr>
              <a:t>🔒 Grid Capacity Constraint</a:t>
            </a:r>
          </a:p>
          <a:p xmlns:a="http://schemas.openxmlformats.org/drawingml/2006/main">
            <a:r>
              <a:rPr lang="en-US" sz="1400" b="0">
                <a:solidFill>
                  <a:srgbClr val="C9D1D9"/>
                </a:solidFill>
              </a:rPr>
              <a:t>Simulates transmission bottleneck, curtailment rises</a:t>
            </a:r>
          </a:p>
          <a:p xmlns:a="http://schemas.openxmlformats.org/drawingml/2006/main">
            <a:r>
              <a:rPr lang="en-US" sz="1400" b="0">
                <a:solidFill>
                  <a:srgbClr val="C9D1D9"/>
                </a:solidFill>
              </a:rPr>
              <a:t/>
            </a:r>
          </a:p>
          <a:p xmlns:a="http://schemas.openxmlformats.org/drawingml/2006/main">
            <a:r>
              <a:rPr lang="en-US" sz="1400" b="0">
                <a:solidFill>
                  <a:srgbClr val="C9D1D9"/>
                </a:solidFill>
              </a:rPr>
              <a:t>✅ Reset All</a:t>
            </a:r>
          </a:p>
          <a:p xmlns:a="http://schemas.openxmlformats.org/drawingml/2006/main">
            <a:r>
              <a:rPr lang="en-US" sz="1400" b="0">
                <a:solidFill>
                  <a:srgbClr val="C9D1D9"/>
                </a:solidFill>
              </a:rPr>
              <a:t>Return to baseline simulation state</a:t>
            </a:r>
          </a:p>
        </p:txBody>
      </p:sp>
      <p:sp>
        <p:nvSpPr>
          <p:cNvPr id="100048" name="DataInfo"/>
          <p:cNvSpPr txBox="1"/>
          <p:nvPr/>
        </p:nvSpPr>
        <p:spPr>
          <a:xfrm xmlns:a="http://schemas.openxmlformats.org/drawingml/2006/main">
            <a:off x="6480000" y="1440000"/>
            <a:ext cx="5400000" cy="396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400" b="0">
                <a:solidFill>
                  <a:srgbClr val="C9D1D9"/>
                </a:solidFill>
              </a:rPr>
              <a:t>SIMULATION DATA</a:t>
            </a:r>
          </a:p>
          <a:p xmlns:a="http://schemas.openxmlformats.org/drawingml/2006/main">
            <a:r>
              <a:rPr lang="en-US" sz="1400" b="0">
                <a:solidFill>
                  <a:srgbClr val="C9D1D9"/>
                </a:solidFill>
              </a:rPr>
              <a:t/>
            </a:r>
          </a:p>
          <a:p xmlns:a="http://schemas.openxmlformats.org/drawingml/2006/main">
            <a:r>
              <a:rPr lang="en-US" sz="1400" b="0">
                <a:solidFill>
                  <a:srgbClr val="C9D1D9"/>
                </a:solidFill>
              </a:rPr>
              <a:t>• 96 data points (48 hours × 30-min intervals)</a:t>
            </a:r>
          </a:p>
          <a:p xmlns:a="http://schemas.openxmlformats.org/drawingml/2006/main">
            <a:r>
              <a:rPr lang="en-US" sz="1400" b="0">
                <a:solidFill>
                  <a:srgbClr val="C9D1D9"/>
                </a:solidFill>
              </a:rPr>
              <a:t>• Seeded deterministic RNG (seed = 42)</a:t>
            </a:r>
          </a:p>
          <a:p xmlns:a="http://schemas.openxmlformats.org/drawingml/2006/main">
            <a:r>
              <a:rPr lang="en-US" sz="1400" b="0">
                <a:solidFill>
                  <a:srgbClr val="C9D1D9"/>
                </a:solidFill>
              </a:rPr>
              <a:t>• Stable values during demos — no random fluctuation</a:t>
            </a:r>
          </a:p>
          <a:p xmlns:a="http://schemas.openxmlformats.org/drawingml/2006/main">
            <a:r>
              <a:rPr lang="en-US" sz="1400" b="0">
                <a:solidFill>
                  <a:srgbClr val="C9D1D9"/>
                </a:solidFill>
              </a:rPr>
              <a:t/>
            </a:r>
          </a:p>
          <a:p xmlns:a="http://schemas.openxmlformats.org/drawingml/2006/main">
            <a:r>
              <a:rPr lang="en-US" sz="1400" b="0">
                <a:solidFill>
                  <a:srgbClr val="C9D1D9"/>
                </a:solidFill>
              </a:rPr>
              <a:t>RAW DATA TABLE</a:t>
            </a:r>
          </a:p>
          <a:p xmlns:a="http://schemas.openxmlformats.org/drawingml/2006/main">
            <a:r>
              <a:rPr lang="en-US" sz="1400" b="0">
                <a:solidFill>
                  <a:srgbClr val="C9D1D9"/>
                </a:solidFill>
              </a:rPr>
              <a:t>• All timestamps with Demand, Solar, Wind, Surplus, Anomaly flag</a:t>
            </a:r>
          </a:p>
          <a:p xmlns:a="http://schemas.openxmlformats.org/drawingml/2006/main">
            <a:r>
              <a:rPr lang="en-US" sz="1400" b="0">
                <a:solidFill>
                  <a:srgbClr val="C9D1D9"/>
                </a:solidFill>
              </a:rPr>
              <a:t>• Export to CSV button</a:t>
            </a:r>
          </a:p>
          <a:p xmlns:a="http://schemas.openxmlformats.org/drawingml/2006/main">
            <a:r>
              <a:rPr lang="en-US" sz="1400" b="0">
                <a:solidFill>
                  <a:srgbClr val="C9D1D9"/>
                </a:solidFill>
              </a:rPr>
              <a:t/>
            </a:r>
          </a:p>
          <a:p xmlns:a="http://schemas.openxmlformats.org/drawingml/2006/main">
            <a:r>
              <a:rPr lang="en-US" sz="1400" b="0">
                <a:solidFill>
                  <a:srgbClr val="C9D1D9"/>
                </a:solidFill>
              </a:rPr>
              <a:t>TIME RANGE SELECTOR</a:t>
            </a:r>
          </a:p>
          <a:p xmlns:a="http://schemas.openxmlformats.org/drawingml/2006/main">
            <a:r>
              <a:rPr lang="en-US" sz="1400" b="0">
                <a:solidFill>
                  <a:srgbClr val="C9D1D9"/>
                </a:solidFill>
              </a:rPr>
              <a:t>• Last 6h  ·  Last 12h  ·  Last 24h  ·  Last 48h</a:t>
            </a:r>
          </a:p>
          <a:p xmlns:a="http://schemas.openxmlformats.org/drawingml/2006/main">
            <a:r>
              <a:rPr lang="en-US" sz="1400" b="0">
                <a:solidFill>
                  <a:srgbClr val="C9D1D9"/>
                </a:solidFill>
              </a:rPr>
              <a:t/>
            </a:r>
          </a:p>
          <a:p xmlns:a="http://schemas.openxmlformats.org/drawingml/2006/main">
            <a:r>
              <a:rPr lang="en-US" sz="1400" b="0">
                <a:solidFill>
                  <a:srgbClr val="C9D1D9"/>
                </a:solidFill>
              </a:rPr>
              <a:t>REACTIVE UPDATES</a:t>
            </a:r>
          </a:p>
          <a:p xmlns:a="http://schemas.openxmlformats.org/drawingml/2006/main">
            <a:r>
              <a:rPr lang="en-US" sz="1400" b="0">
                <a:solidFill>
                  <a:srgbClr val="C9D1D9"/>
                </a:solidFill>
              </a:rPr>
              <a:t>When a scenario is triggered, ALL 9 pages update simultaneously:</a:t>
            </a:r>
          </a:p>
          <a:p xmlns:a="http://schemas.openxmlformats.org/drawingml/2006/main">
            <a:r>
              <a:rPr lang="en-US" sz="1400" b="0">
                <a:solidFill>
                  <a:srgbClr val="C9D1D9"/>
                </a:solidFill>
              </a:rPr>
              <a:t>KPI cards · Charts · Alerts · Forecasts · Anomalies</a:t>
            </a:r>
          </a:p>
          <a:p xmlns:a="http://schemas.openxmlformats.org/drawingml/2006/main">
            <a:r>
              <a:rPr lang="en-US" sz="1400" b="0">
                <a:solidFill>
                  <a:srgbClr val="C9D1D9"/>
                </a:solidFill>
              </a:rPr>
              <a:t>Recommendations · Curtailment · Operator Brief</a:t>
            </a:r>
          </a:p>
        </p:txBody>
      </p:sp>
    </p:spTree>
  </p:cSld>
</p:sld>
</file>

<file path=ppt/slides/slide12.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49"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12 / 14  —  Page 9</a:t>
            </a:r>
          </a:p>
        </p:txBody>
      </p:sp>
      <p:sp>
        <p:nvSpPr>
          <p:cNvPr id="100050"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ℹ️ About GridWise AI</a:t>
            </a:r>
          </a:p>
        </p:txBody>
      </p:sp>
      <p:sp>
        <p:nvSpPr>
          <p:cNvPr id="100051" name="ProbSol"/>
          <p:cNvSpPr txBox="1"/>
          <p:nvPr/>
        </p:nvSpPr>
        <p:spPr>
          <a:xfrm xmlns:a="http://schemas.openxmlformats.org/drawingml/2006/main">
            <a:off x="540000" y="1440000"/>
            <a:ext cx="5760000" cy="43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 PROBLEM STATEMENT</a:t>
            </a:r>
          </a:p>
          <a:p xmlns:a="http://schemas.openxmlformats.org/drawingml/2006/main">
            <a:r>
              <a:rPr lang="en-US" sz="1300" b="0">
                <a:solidFill>
                  <a:srgbClr val="C9D1D9"/>
                </a:solidFill>
              </a:rPr>
              <a:t>Electricity-grid operators need AI-powered decision support for forecasting demand spikes, monitoring renewable assets, detecting anomalies, identifying root causes, recommending load-balancing actions, and generating integrated operator briefs.</a:t>
            </a:r>
          </a:p>
          <a:p xmlns:a="http://schemas.openxmlformats.org/drawingml/2006/main">
            <a:r>
              <a:rPr lang="en-US" sz="1300" b="0">
                <a:solidFill>
                  <a:srgbClr val="C9D1D9"/>
                </a:solidFill>
              </a:rPr>
              <a:t/>
            </a:r>
          </a:p>
          <a:p xmlns:a="http://schemas.openxmlformats.org/drawingml/2006/main">
            <a:r>
              <a:rPr lang="en-US" sz="1300" b="0">
                <a:solidFill>
                  <a:srgbClr val="C9D1D9"/>
                </a:solidFill>
              </a:rPr>
              <a:t>💡 OUR SOLUTION</a:t>
            </a:r>
          </a:p>
          <a:p xmlns:a="http://schemas.openxmlformats.org/drawingml/2006/main">
            <a:r>
              <a:rPr lang="en-US" sz="1300" b="0">
                <a:solidFill>
                  <a:srgbClr val="C9D1D9"/>
                </a:solidFill>
              </a:rPr>
              <a:t>GridWise AI is a web-based AI-powered decision-support platform combining demand forecasting, renewable monitoring, anomaly detection, root-cause analysis, load-balancing recommendations, and curtailment optimisation in one reactive dashboard.</a:t>
            </a:r>
          </a:p>
          <a:p xmlns:a="http://schemas.openxmlformats.org/drawingml/2006/main">
            <a:r>
              <a:rPr lang="en-US" sz="1300" b="0">
                <a:solidFill>
                  <a:srgbClr val="C9D1D9"/>
                </a:solidFill>
              </a:rPr>
              <a:t/>
            </a:r>
          </a:p>
          <a:p xmlns:a="http://schemas.openxmlformats.org/drawingml/2006/main">
            <a:r>
              <a:rPr lang="en-US" sz="1300" b="0">
                <a:solidFill>
                  <a:srgbClr val="C9D1D9"/>
                </a:solidFill>
              </a:rPr>
              <a:t>✅ EXPECTED BENEFITS</a:t>
            </a:r>
          </a:p>
          <a:p xmlns:a="http://schemas.openxmlformats.org/drawingml/2006/main">
            <a:r>
              <a:rPr lang="en-US" sz="1300" b="0">
                <a:solidFill>
                  <a:srgbClr val="C9D1D9"/>
                </a:solidFill>
              </a:rPr>
              <a:t>• Earlier demand spike awareness — 6–24h ahead forecast</a:t>
            </a:r>
          </a:p>
          <a:p xmlns:a="http://schemas.openxmlformats.org/drawingml/2006/main">
            <a:r>
              <a:rPr lang="en-US" sz="1300" b="0">
                <a:solidFill>
                  <a:srgbClr val="C9D1D9"/>
                </a:solidFill>
              </a:rPr>
              <a:t>• Faster renewable fault detection — statistical anomaly detection</a:t>
            </a:r>
          </a:p>
          <a:p xmlns:a="http://schemas.openxmlformats.org/drawingml/2006/main">
            <a:r>
              <a:rPr lang="en-US" sz="1300" b="0">
                <a:solidFill>
                  <a:srgbClr val="C9D1D9"/>
                </a:solidFill>
              </a:rPr>
              <a:t>• Reduced curtailment — 80% recovery plan with quantified potential</a:t>
            </a:r>
          </a:p>
          <a:p xmlns:a="http://schemas.openxmlformats.org/drawingml/2006/main">
            <a:r>
              <a:rPr lang="en-US" sz="1300" b="0">
                <a:solidFill>
                  <a:srgbClr val="C9D1D9"/>
                </a:solidFill>
              </a:rPr>
              <a:t>• Better operator decisions — integrated 9-section brief</a:t>
            </a:r>
          </a:p>
          <a:p xmlns:a="http://schemas.openxmlformats.org/drawingml/2006/main">
            <a:r>
              <a:rPr lang="en-US" sz="1300" b="0">
                <a:solidFill>
                  <a:srgbClr val="C9D1D9"/>
                </a:solidFill>
              </a:rPr>
              <a:t>• Transparent AI — all recommendations traceable to data and rules</a:t>
            </a:r>
          </a:p>
        </p:txBody>
      </p:sp>
      <p:sp>
        <p:nvSpPr>
          <p:cNvPr id="100052" name="TechTeam"/>
          <p:cNvSpPr txBox="1"/>
          <p:nvPr/>
        </p:nvSpPr>
        <p:spPr>
          <a:xfrm xmlns:a="http://schemas.openxmlformats.org/drawingml/2006/main">
            <a:off x="6840000" y="1440000"/>
            <a:ext cx="5040000" cy="432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 TECHNOLOGY STACK</a:t>
            </a:r>
          </a:p>
          <a:p xmlns:a="http://schemas.openxmlformats.org/drawingml/2006/main">
            <a:r>
              <a:rPr lang="en-US" sz="1300" b="0">
                <a:solidFill>
                  <a:srgbClr val="C9D1D9"/>
                </a:solidFill>
              </a:rPr>
              <a:t>Frontend:    React 18 + Vite 4</a:t>
            </a:r>
          </a:p>
          <a:p xmlns:a="http://schemas.openxmlformats.org/drawingml/2006/main">
            <a:r>
              <a:rPr lang="en-US" sz="1300" b="0">
                <a:solidFill>
                  <a:srgbClr val="C9D1D9"/>
                </a:solidFill>
              </a:rPr>
              <a:t>Charts:      Recharts 2.8</a:t>
            </a:r>
          </a:p>
          <a:p xmlns:a="http://schemas.openxmlformats.org/drawingml/2006/main">
            <a:r>
              <a:rPr lang="en-US" sz="1300" b="0">
                <a:solidFill>
                  <a:srgbClr val="C9D1D9"/>
                </a:solidFill>
              </a:rPr>
              <a:t>AI:          Rule-Based NLG (transparent, explainable)</a:t>
            </a:r>
          </a:p>
          <a:p xmlns:a="http://schemas.openxmlformats.org/drawingml/2006/main">
            <a:r>
              <a:rPr lang="en-US" sz="1300" b="0">
                <a:solidFill>
                  <a:srgbClr val="C9D1D9"/>
                </a:solidFill>
              </a:rPr>
              <a:t>Data:        Seeded simulation (96 data points)</a:t>
            </a:r>
          </a:p>
          <a:p xmlns:a="http://schemas.openxmlformats.org/drawingml/2006/main">
            <a:r>
              <a:rPr lang="en-US" sz="1300" b="0">
                <a:solidFill>
                  <a:srgbClr val="C9D1D9"/>
                </a:solidFill>
              </a:rPr>
              <a:t>Platform:    IBM BoB</a:t>
            </a:r>
          </a:p>
          <a:p xmlns:a="http://schemas.openxmlformats.org/drawingml/2006/main">
            <a:r>
              <a:rPr lang="en-US" sz="1300" b="0">
                <a:solidFill>
                  <a:srgbClr val="C9D1D9"/>
                </a:solidFill>
              </a:rPr>
              <a:t>Deployment:  Static SPA — no backend required</a:t>
            </a:r>
          </a:p>
          <a:p xmlns:a="http://schemas.openxmlformats.org/drawingml/2006/main">
            <a:r>
              <a:rPr lang="en-US" sz="1300" b="0">
                <a:solidFill>
                  <a:srgbClr val="C9D1D9"/>
                </a:solidFill>
              </a:rPr>
              <a:t/>
            </a:r>
          </a:p>
          <a:p xmlns:a="http://schemas.openxmlformats.org/drawingml/2006/main">
            <a:r>
              <a:rPr lang="en-US" sz="1300" b="0">
                <a:solidFill>
                  <a:srgbClr val="C9D1D9"/>
                </a:solidFill>
              </a:rPr>
              <a:t>👥 TEAM FUTUREMIND</a:t>
            </a:r>
          </a:p>
          <a:p xmlns:a="http://schemas.openxmlformats.org/drawingml/2006/main">
            <a:r>
              <a:rPr lang="en-US" sz="1300" b="0">
                <a:solidFill>
                  <a:srgbClr val="C9D1D9"/>
                </a:solidFill>
              </a:rPr>
              <a:t>Shruti Ramani  —  Team Lead, Full Stack Dev</a:t>
            </a:r>
          </a:p>
          <a:p xmlns:a="http://schemas.openxmlformats.org/drawingml/2006/main">
            <a:r>
              <a:rPr lang="en-US" sz="1300" b="0">
                <a:solidFill>
                  <a:srgbClr val="C9D1D9"/>
                </a:solidFill>
              </a:rPr>
              <a:t>Member 2       —  UI/UX Design, Frontend</a:t>
            </a:r>
          </a:p>
          <a:p xmlns:a="http://schemas.openxmlformats.org/drawingml/2006/main">
            <a:r>
              <a:rPr lang="en-US" sz="1300" b="0">
                <a:solidFill>
                  <a:srgbClr val="C9D1D9"/>
                </a:solidFill>
              </a:rPr>
              <a:t>Member 3       —  Data Science, AI Logic</a:t>
            </a:r>
          </a:p>
          <a:p xmlns:a="http://schemas.openxmlformats.org/drawingml/2006/main">
            <a:r>
              <a:rPr lang="en-US" sz="1300" b="0">
                <a:solidFill>
                  <a:srgbClr val="C9D1D9"/>
                </a:solidFill>
              </a:rPr>
              <a:t>Member 4       —  Docs, Testing, Presentation</a:t>
            </a:r>
          </a:p>
          <a:p xmlns:a="http://schemas.openxmlformats.org/drawingml/2006/main">
            <a:r>
              <a:rPr lang="en-US" sz="1300" b="0">
                <a:solidFill>
                  <a:srgbClr val="C9D1D9"/>
                </a:solidFill>
              </a:rPr>
              <a:t/>
            </a:r>
          </a:p>
          <a:p xmlns:a="http://schemas.openxmlformats.org/drawingml/2006/main">
            <a:r>
              <a:rPr lang="en-US" sz="1300" b="0">
                <a:solidFill>
                  <a:srgbClr val="C9D1D9"/>
                </a:solidFill>
              </a:rPr>
              <a:t>⚠️ DISCLAIMER</a:t>
            </a:r>
          </a:p>
          <a:p xmlns:a="http://schemas.openxmlformats.org/drawingml/2006/main">
            <a:r>
              <a:rPr lang="en-US" sz="1300" b="0">
                <a:solidFill>
                  <a:srgbClr val="C9D1D9"/>
                </a:solidFill>
              </a:rPr>
              <a:t>All data is simulated for demonstration only. This application does not connect to any real power grid. AI recommendations are rule-based suggestions for qualified operators to review — not automated control instructions.</a:t>
            </a:r>
          </a:p>
        </p:txBody>
      </p:sp>
    </p:spTree>
  </p:cSld>
</p:sld>
</file>

<file path=ppt/slides/slide13.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53" name="SlideNum"/>
          <p:cNvSpPr txBox="1"/>
          <p:nvPr/>
        </p:nvSpPr>
        <p:spPr>
          <a:xfrm xmlns:a="http://schemas.openxmlformats.org/drawingml/2006/main">
            <a:off x="540000" y="288000"/>
            <a:ext cx="72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57606A"/>
                </a:solidFill>
              </a:rPr>
              <a:t>13 / 14  —  System Architecture</a:t>
            </a:r>
          </a:p>
        </p:txBody>
      </p:sp>
      <p:sp>
        <p:nvSpPr>
          <p:cNvPr id="100054" name="Title"/>
          <p:cNvSpPr txBox="1"/>
          <p:nvPr/>
        </p:nvSpPr>
        <p:spPr>
          <a:xfrm xmlns:a="http://schemas.openxmlformats.org/drawingml/2006/main">
            <a:off x="540000" y="576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rPr>
              <a:t>🏗️ Technical Architecture</a:t>
            </a:r>
          </a:p>
        </p:txBody>
      </p:sp>
      <p:sp>
        <p:nvSpPr>
          <p:cNvPr id="100055" name="Layers"/>
          <p:cNvSpPr txBox="1"/>
          <p:nvPr/>
        </p:nvSpPr>
        <p:spPr>
          <a:xfrm xmlns:a="http://schemas.openxmlformats.org/drawingml/2006/main">
            <a:off x="540000" y="1440000"/>
            <a:ext cx="5760000" cy="468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ARCHITECTURE LAYERS (Top to Bottom)</a:t>
            </a:r>
          </a:p>
          <a:p xmlns:a="http://schemas.openxmlformats.org/drawingml/2006/main">
            <a:r>
              <a:rPr lang="en-US" sz="1300" b="0">
                <a:solidFill>
                  <a:srgbClr val="C9D1D9"/>
                </a:solidFill>
              </a:rPr>
              <a:t/>
            </a:r>
          </a:p>
          <a:p xmlns:a="http://schemas.openxmlformats.org/drawingml/2006/main">
            <a:r>
              <a:rPr lang="en-US" sz="1300" b="0">
                <a:solidFill>
                  <a:srgbClr val="C9D1D9"/>
                </a:solidFill>
              </a:rPr>
              <a:t>📊  DATA LAYER</a:t>
            </a:r>
          </a:p>
          <a:p xmlns:a="http://schemas.openxmlformats.org/drawingml/2006/main">
            <a:r>
              <a:rPr lang="en-US" sz="1300" b="0">
                <a:solidFill>
                  <a:srgbClr val="C9D1D9"/>
                </a:solidFill>
              </a:rPr>
              <a:t>simulationData.js  ·  assets.js  ·  alerts.js</a:t>
            </a:r>
          </a:p>
          <a:p xmlns:a="http://schemas.openxmlformats.org/drawingml/2006/main">
            <a:r>
              <a:rPr lang="en-US" sz="1300" b="0">
                <a:solidFill>
                  <a:srgbClr val="C9D1D9"/>
                </a:solidFill>
              </a:rPr>
              <a:t>48h × 30-min time-series  ·  Seeded RNG seed=42  ·  6 asset definitions  ·  Dynamic alert engine</a:t>
            </a:r>
          </a:p>
          <a:p xmlns:a="http://schemas.openxmlformats.org/drawingml/2006/main">
            <a:r>
              <a:rPr lang="en-US" sz="1300" b="0">
                <a:solidFill>
                  <a:srgbClr val="C9D1D9"/>
                </a:solidFill>
              </a:rPr>
              <a:t/>
            </a:r>
          </a:p>
          <a:p xmlns:a="http://schemas.openxmlformats.org/drawingml/2006/main">
            <a:r>
              <a:rPr lang="en-US" sz="1300" b="0">
                <a:solidFill>
                  <a:srgbClr val="C9D1D9"/>
                </a:solidFill>
              </a:rPr>
              <a:t>         ↓</a:t>
            </a:r>
          </a:p>
          <a:p xmlns:a="http://schemas.openxmlformats.org/drawingml/2006/main">
            <a:r>
              <a:rPr lang="en-US" sz="1300" b="0">
                <a:solidFill>
                  <a:srgbClr val="C9D1D9"/>
                </a:solidFill>
              </a:rPr>
              <a:t/>
            </a:r>
          </a:p>
          <a:p xmlns:a="http://schemas.openxmlformats.org/drawingml/2006/main">
            <a:r>
              <a:rPr lang="en-US" sz="1300" b="0">
                <a:solidFill>
                  <a:srgbClr val="C9D1D9"/>
                </a:solidFill>
              </a:rPr>
              <a:t>🔢  COMPUTATION LAYER</a:t>
            </a:r>
          </a:p>
          <a:p xmlns:a="http://schemas.openxmlformats.org/drawingml/2006/main">
            <a:r>
              <a:rPr lang="en-US" sz="1300" b="0">
                <a:solidFill>
                  <a:srgbClr val="C9D1D9"/>
                </a:solidFill>
              </a:rPr>
              <a:t>calculations.js  ·  forecasting.js  ·  anomalyDetection.js</a:t>
            </a:r>
          </a:p>
          <a:p xmlns:a="http://schemas.openxmlformats.org/drawingml/2006/main">
            <a:r>
              <a:rPr lang="en-US" sz="1300" b="0">
                <a:solidFill>
                  <a:srgbClr val="C9D1D9"/>
                </a:solidFill>
              </a:rPr>
              <a:t>7 grid formulas  ·  WMA forecast with CI  ·  Z-score + threshold detection</a:t>
            </a:r>
          </a:p>
          <a:p xmlns:a="http://schemas.openxmlformats.org/drawingml/2006/main">
            <a:r>
              <a:rPr lang="en-US" sz="1300" b="0">
                <a:solidFill>
                  <a:srgbClr val="C9D1D9"/>
                </a:solidFill>
              </a:rPr>
              <a:t/>
            </a:r>
          </a:p>
          <a:p xmlns:a="http://schemas.openxmlformats.org/drawingml/2006/main">
            <a:r>
              <a:rPr lang="en-US" sz="1300" b="0">
                <a:solidFill>
                  <a:srgbClr val="C9D1D9"/>
                </a:solidFill>
              </a:rPr>
              <a:t>         ↓</a:t>
            </a:r>
          </a:p>
          <a:p xmlns:a="http://schemas.openxmlformats.org/drawingml/2006/main">
            <a:r>
              <a:rPr lang="en-US" sz="1300" b="0">
                <a:solidFill>
                  <a:srgbClr val="C9D1D9"/>
                </a:solidFill>
              </a:rPr>
              <a:t/>
            </a:r>
          </a:p>
          <a:p xmlns:a="http://schemas.openxmlformats.org/drawingml/2006/main">
            <a:r>
              <a:rPr lang="en-US" sz="1300" b="0">
                <a:solidFill>
                  <a:srgbClr val="C9D1D9"/>
                </a:solidFill>
              </a:rPr>
              <a:t>🤖  AI LAYER  (Rule-Based NLG)</a:t>
            </a:r>
          </a:p>
          <a:p xmlns:a="http://schemas.openxmlformats.org/drawingml/2006/main">
            <a:r>
              <a:rPr lang="en-US" sz="1300" b="0">
                <a:solidFill>
                  <a:srgbClr val="C9D1D9"/>
                </a:solidFill>
              </a:rPr>
              <a:t>aiInsights.js — 6 NLG functions</a:t>
            </a:r>
          </a:p>
          <a:p xmlns:a="http://schemas.openxmlformats.org/drawingml/2006/main">
            <a:r>
              <a:rPr lang="en-US" sz="1300" b="0">
                <a:solidFill>
                  <a:srgbClr val="C9D1D9"/>
                </a:solidFill>
              </a:rPr>
              <a:t>Demand narrative  ·  Anomaly explanation  ·  Root-cause analysis</a:t>
            </a:r>
          </a:p>
          <a:p xmlns:a="http://schemas.openxmlformats.org/drawingml/2006/main">
            <a:r>
              <a:rPr lang="en-US" sz="1300" b="0">
                <a:solidFill>
                  <a:srgbClr val="C9D1D9"/>
                </a:solidFill>
              </a:rPr>
              <a:t>Recommendations  ·  Curtailment plan  ·  Operator brief  ·  Chatbot (10 patterns)</a:t>
            </a:r>
          </a:p>
          <a:p xmlns:a="http://schemas.openxmlformats.org/drawingml/2006/main">
            <a:r>
              <a:rPr lang="en-US" sz="1300" b="0">
                <a:solidFill>
                  <a:srgbClr val="C9D1D9"/>
                </a:solidFill>
              </a:rPr>
              <a:t/>
            </a:r>
          </a:p>
          <a:p xmlns:a="http://schemas.openxmlformats.org/drawingml/2006/main">
            <a:r>
              <a:rPr lang="en-US" sz="1300" b="0">
                <a:solidFill>
                  <a:srgbClr val="C9D1D9"/>
                </a:solidFill>
              </a:rPr>
              <a:t>         ↓</a:t>
            </a:r>
          </a:p>
          <a:p xmlns:a="http://schemas.openxmlformats.org/drawingml/2006/main">
            <a:r>
              <a:rPr lang="en-US" sz="1300" b="0">
                <a:solidFill>
                  <a:srgbClr val="C9D1D9"/>
                </a:solidFill>
              </a:rPr>
              <a:t/>
            </a:r>
          </a:p>
          <a:p xmlns:a="http://schemas.openxmlformats.org/drawingml/2006/main">
            <a:r>
              <a:rPr lang="en-US" sz="1300" b="0">
                <a:solidFill>
                  <a:srgbClr val="C9D1D9"/>
                </a:solidFill>
              </a:rPr>
              <a:t>⚙️  STATE LAYER</a:t>
            </a:r>
          </a:p>
          <a:p xmlns:a="http://schemas.openxmlformats.org/drawingml/2006/main">
            <a:r>
              <a:rPr lang="en-US" sz="1300" b="0">
                <a:solidFill>
                  <a:srgbClr val="C9D1D9"/>
                </a:solidFill>
              </a:rPr>
              <a:t>SimulationContext.jsx — React Context + useMemo</a:t>
            </a:r>
          </a:p>
          <a:p xmlns:a="http://schemas.openxmlformats.org/drawingml/2006/main">
            <a:r>
              <a:rPr lang="en-US" sz="1300" b="0">
                <a:solidFill>
                  <a:srgbClr val="C9D1D9"/>
                </a:solidFill>
              </a:rPr>
              <a:t>20+ computed values  ·  Reactive scenario overrides  ·  Demo mode</a:t>
            </a:r>
          </a:p>
          <a:p xmlns:a="http://schemas.openxmlformats.org/drawingml/2006/main">
            <a:r>
              <a:rPr lang="en-US" sz="1300" b="0">
                <a:solidFill>
                  <a:srgbClr val="C9D1D9"/>
                </a:solidFill>
              </a:rPr>
              <a:t/>
            </a:r>
          </a:p>
          <a:p xmlns:a="http://schemas.openxmlformats.org/drawingml/2006/main">
            <a:r>
              <a:rPr lang="en-US" sz="1300" b="0">
                <a:solidFill>
                  <a:srgbClr val="C9D1D9"/>
                </a:solidFill>
              </a:rPr>
              <a:t>         ↓</a:t>
            </a:r>
          </a:p>
          <a:p xmlns:a="http://schemas.openxmlformats.org/drawingml/2006/main">
            <a:r>
              <a:rPr lang="en-US" sz="1300" b="0">
                <a:solidFill>
                  <a:srgbClr val="C9D1D9"/>
                </a:solidFill>
              </a:rPr>
              <a:t/>
            </a:r>
          </a:p>
          <a:p xmlns:a="http://schemas.openxmlformats.org/drawingml/2006/main">
            <a:r>
              <a:rPr lang="en-US" sz="1300" b="0">
                <a:solidFill>
                  <a:srgbClr val="C9D1D9"/>
                </a:solidFill>
              </a:rPr>
              <a:t>🖥️  UI LAYER</a:t>
            </a:r>
          </a:p>
          <a:p xmlns:a="http://schemas.openxmlformats.org/drawingml/2006/main">
            <a:r>
              <a:rPr lang="en-US" sz="1300" b="0">
                <a:solidFill>
                  <a:srgbClr val="C9D1D9"/>
                </a:solidFill>
              </a:rPr>
              <a:t>9 Pages  ·  4 Chart Components  ·  5 Common Components  ·  React 18 + Recharts + Vite</a:t>
            </a:r>
          </a:p>
        </p:txBody>
      </p:sp>
      <p:sp>
        <p:nvSpPr>
          <p:cNvPr id="100056" name="Flow"/>
          <p:cNvSpPr txBox="1"/>
          <p:nvPr/>
        </p:nvSpPr>
        <p:spPr>
          <a:xfrm xmlns:a="http://schemas.openxmlformats.org/drawingml/2006/main">
            <a:off x="6840000" y="1440000"/>
            <a:ext cx="5040000" cy="4680000"/>
          </a:xfrm>
          <a:prstGeom xmlns:a="http://schemas.openxmlformats.org/drawingml/2006/main" prst="rect">
            <a:avLst/>
          </a:prstGeom>
          <a:solidFill xmlns:a="http://schemas.openxmlformats.org/drawingml/2006/main">
            <a:srgbClr val="111827"/>
          </a:solidFill>
        </p:spPr>
        <p:txBody>
          <a:bodyPr xmlns:a="http://schemas.openxmlformats.org/drawingml/2006/main"/>
          <a:lstStyle xmlns:a="http://schemas.openxmlformats.org/drawingml/2006/main"/>
          <a:p xmlns:a="http://schemas.openxmlformats.org/drawingml/2006/main">
            <a:r>
              <a:rPr lang="en-US" sz="1300" b="0">
                <a:solidFill>
                  <a:srgbClr val="C9D1D9"/>
                </a:solidFill>
              </a:rPr>
              <a:t>REACTIVE DATA FLOW</a:t>
            </a:r>
          </a:p>
          <a:p xmlns:a="http://schemas.openxmlformats.org/drawingml/2006/main">
            <a:r>
              <a:rPr lang="en-US" sz="1300" b="0">
                <a:solidFill>
                  <a:srgbClr val="C9D1D9"/>
                </a:solidFill>
              </a:rPr>
              <a:t/>
            </a:r>
          </a:p>
          <a:p xmlns:a="http://schemas.openxmlformats.org/drawingml/2006/main">
            <a:r>
              <a:rPr lang="en-US" sz="1300" b="0">
                <a:solidFill>
                  <a:srgbClr val="C9D1D9"/>
                </a:solidFill>
              </a:rPr>
              <a:t>User clicks 'Demand Spike'</a:t>
            </a:r>
          </a:p>
          <a:p xmlns:a="http://schemas.openxmlformats.org/drawingml/2006/main">
            <a:r>
              <a:rPr lang="en-US" sz="1300" b="0">
                <a:solidFill>
                  <a:srgbClr val="C9D1D9"/>
                </a:solidFill>
              </a:rPr>
              <a:t>  ↓  setDemandLevel('spike') → multiplier: 1.28</a:t>
            </a:r>
          </a:p>
          <a:p xmlns:a="http://schemas.openxmlformats.org/drawingml/2006/main">
            <a:r>
              <a:rPr lang="en-US" sz="1300" b="0">
                <a:solidFill>
                  <a:srgbClr val="C9D1D9"/>
                </a:solidFill>
              </a:rPr>
              <a:t>  ↓  generateHistoricalData(overrides) → 96 pts</a:t>
            </a:r>
          </a:p>
          <a:p xmlns:a="http://schemas.openxmlformats.org/drawingml/2006/main">
            <a:r>
              <a:rPr lang="en-US" sz="1300" b="0">
                <a:solidFill>
                  <a:srgbClr val="C9D1D9"/>
                </a:solidFill>
              </a:rPr>
              <a:t>  ↓  computeKPIs()</a:t>
            </a:r>
          </a:p>
          <a:p xmlns:a="http://schemas.openxmlformats.org/drawingml/2006/main">
            <a:r>
              <a:rPr lang="en-US" sz="1300" b="0">
                <a:solidFill>
                  <a:srgbClr val="C9D1D9"/>
                </a:solidFill>
              </a:rPr>
              <a:t>     generateDemandForecast()</a:t>
            </a:r>
          </a:p>
          <a:p xmlns:a="http://schemas.openxmlformats.org/drawingml/2006/main">
            <a:r>
              <a:rPr lang="en-US" sz="1300" b="0">
                <a:solidFill>
                  <a:srgbClr val="C9D1D9"/>
                </a:solidFill>
              </a:rPr>
              <a:t>     runAllDetectors()</a:t>
            </a:r>
          </a:p>
          <a:p xmlns:a="http://schemas.openxmlformats.org/drawingml/2006/main">
            <a:r>
              <a:rPr lang="en-US" sz="1300" b="0">
                <a:solidFill>
                  <a:srgbClr val="C9D1D9"/>
                </a:solidFill>
              </a:rPr>
              <a:t>     generateDynamicAlerts()</a:t>
            </a:r>
          </a:p>
          <a:p xmlns:a="http://schemas.openxmlformats.org/drawingml/2006/main">
            <a:r>
              <a:rPr lang="en-US" sz="1300" b="0">
                <a:solidFill>
                  <a:srgbClr val="C9D1D9"/>
                </a:solidFill>
              </a:rPr>
              <a:t>     computeGridBalance()</a:t>
            </a:r>
          </a:p>
          <a:p xmlns:a="http://schemas.openxmlformats.org/drawingml/2006/main">
            <a:r>
              <a:rPr lang="en-US" sz="1300" b="0">
                <a:solidFill>
                  <a:srgbClr val="C9D1D9"/>
                </a:solidFill>
              </a:rPr>
              <a:t>     computeCurtailment()</a:t>
            </a:r>
          </a:p>
          <a:p xmlns:a="http://schemas.openxmlformats.org/drawingml/2006/main">
            <a:r>
              <a:rPr lang="en-US" sz="1300" b="0">
                <a:solidFill>
                  <a:srgbClr val="C9D1D9"/>
                </a:solidFill>
              </a:rPr>
              <a:t>     generateRecommendations()</a:t>
            </a:r>
          </a:p>
          <a:p xmlns:a="http://schemas.openxmlformats.org/drawingml/2006/main">
            <a:r>
              <a:rPr lang="en-US" sz="1300" b="0">
                <a:solidFill>
                  <a:srgbClr val="C9D1D9"/>
                </a:solidFill>
              </a:rPr>
              <a:t>     generateBrief()</a:t>
            </a:r>
          </a:p>
          <a:p xmlns:a="http://schemas.openxmlformats.org/drawingml/2006/main">
            <a:r>
              <a:rPr lang="en-US" sz="1300" b="0">
                <a:solidFill>
                  <a:srgbClr val="C9D1D9"/>
                </a:solidFill>
              </a:rPr>
              <a:t>  ↓  All 9 pages re-render simultaneously</a:t>
            </a:r>
          </a:p>
          <a:p xmlns:a="http://schemas.openxmlformats.org/drawingml/2006/main">
            <a:r>
              <a:rPr lang="en-US" sz="1300" b="0">
                <a:solidFill>
                  <a:srgbClr val="C9D1D9"/>
                </a:solidFill>
              </a:rPr>
              <a:t/>
            </a:r>
          </a:p>
          <a:p xmlns:a="http://schemas.openxmlformats.org/drawingml/2006/main">
            <a:r>
              <a:rPr lang="en-US" sz="1300" b="0">
                <a:solidFill>
                  <a:srgbClr val="C9D1D9"/>
                </a:solidFill>
              </a:rPr>
              <a:t>KEY TECHNICAL DECISIONS</a:t>
            </a:r>
          </a:p>
          <a:p xmlns:a="http://schemas.openxmlformats.org/drawingml/2006/main">
            <a:r>
              <a:rPr lang="en-US" sz="1300" b="0">
                <a:solidFill>
                  <a:srgbClr val="C9D1D9"/>
                </a:solidFill>
              </a:rPr>
              <a:t/>
            </a:r>
          </a:p>
          <a:p xmlns:a="http://schemas.openxmlformats.org/drawingml/2006/main">
            <a:r>
              <a:rPr lang="en-US" sz="1300" b="0">
                <a:solidFill>
                  <a:srgbClr val="C9D1D9"/>
                </a:solidFill>
              </a:rPr>
              <a:t>Rule-Based AI  →  Transparent, no API keys needed</a:t>
            </a:r>
          </a:p>
          <a:p xmlns:a="http://schemas.openxmlformats.org/drawingml/2006/main">
            <a:r>
              <a:rPr lang="en-US" sz="1300" b="0">
                <a:solidFill>
                  <a:srgbClr val="C9D1D9"/>
                </a:solidFill>
              </a:rPr>
              <a:t>Seeded RNG     →  Deterministic — stable during demos</a:t>
            </a:r>
          </a:p>
          <a:p xmlns:a="http://schemas.openxmlformats.org/drawingml/2006/main">
            <a:r>
              <a:rPr lang="en-US" sz="1300" b="0">
                <a:solidFill>
                  <a:srgbClr val="C9D1D9"/>
                </a:solidFill>
              </a:rPr>
              <a:t>React Context  →  Single reactive state across all pages</a:t>
            </a:r>
          </a:p>
          <a:p xmlns:a="http://schemas.openxmlformats.org/drawingml/2006/main">
            <a:r>
              <a:rPr lang="en-US" sz="1300" b="0">
                <a:solidFill>
                  <a:srgbClr val="C9D1D9"/>
                </a:solidFill>
              </a:rPr>
              <a:t>No Backend     →  Zero infrastructure, instant deployment</a:t>
            </a:r>
          </a:p>
          <a:p xmlns:a="http://schemas.openxmlformats.org/drawingml/2006/main">
            <a:r>
              <a:rPr lang="en-US" sz="1300" b="0">
                <a:solidFill>
                  <a:srgbClr val="C9D1D9"/>
                </a:solidFill>
              </a:rPr>
              <a:t>Recharts       →  React-native, dark-theme friendly</a:t>
            </a:r>
          </a:p>
          <a:p xmlns:a="http://schemas.openxmlformats.org/drawingml/2006/main">
            <a:r>
              <a:rPr lang="en-US" sz="1300" b="0">
                <a:solidFill>
                  <a:srgbClr val="C9D1D9"/>
                </a:solidFill>
              </a:rPr>
              <a:t/>
            </a:r>
          </a:p>
          <a:p xmlns:a="http://schemas.openxmlformats.org/drawingml/2006/main">
            <a:r>
              <a:rPr lang="en-US" sz="1300" b="0">
                <a:solidFill>
                  <a:srgbClr val="C9D1D9"/>
                </a:solidFill>
              </a:rPr>
              <a:t>GitHub: github.com/ramani22708-tech/bob-ai-hackathon-FutureMind</a:t>
            </a:r>
          </a:p>
        </p:txBody>
      </p:sp>
    </p:spTree>
  </p:cSld>
</p:sld>
</file>

<file path=ppt/slides/slide14.xml><?xml version="1.0" encoding="utf-8"?>
<p:sld xmlns:p="http://schemas.openxmlformats.org/presentationml/2006/main">
  <p:cSld>
    <p:bg>
      <p:bgPr>
        <a:solidFill xmlns:a="http://schemas.openxmlformats.org/drawingml/2006/main">
          <a:srgbClr val="0A0F1E"/>
        </a:solidFill>
      </p:bgPr>
    </p:bg>
    <p:spTree>
      <p:nvGrpSpPr>
        <p:cNvPr id="1" name=""/>
        <p:cNvGrpSpPr/>
        <p:nvPr/>
      </p:nvGrpSpPr>
      <p:grpSpPr/>
      <p:sp>
        <p:nvSpPr>
          <p:cNvPr id="100057" name="IBMTag"/>
          <p:cNvSpPr txBox="1"/>
          <p:nvPr/>
        </p:nvSpPr>
        <p:spPr>
          <a:xfrm xmlns:a="http://schemas.openxmlformats.org/drawingml/2006/main">
            <a:off x="540000" y="54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0">
                <a:solidFill>
                  <a:srgbClr val="57606A"/>
                </a:solidFill>
              </a:rPr>
              <a:t>IBM BoB AI Innovation Hackathon 2026  |  Team FutureMind</a:t>
            </a:r>
          </a:p>
        </p:txBody>
      </p:sp>
      <p:sp>
        <p:nvSpPr>
          <p:cNvPr id="100058" name="Title"/>
          <p:cNvSpPr txBox="1"/>
          <p:nvPr/>
        </p:nvSpPr>
        <p:spPr>
          <a:xfrm xmlns:a="http://schemas.openxmlformats.org/drawingml/2006/main">
            <a:off x="540000" y="1440000"/>
            <a:ext cx="1080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5400" b="1">
                <a:solidFill>
                  <a:srgbClr val="FFFFFF"/>
                </a:solidFill>
              </a:rPr>
              <a:t>⚡ GridWise AI</a:t>
            </a:r>
          </a:p>
        </p:txBody>
      </p:sp>
      <p:sp>
        <p:nvSpPr>
          <p:cNvPr id="100059" name="Tagline"/>
          <p:cNvSpPr txBox="1"/>
          <p:nvPr/>
        </p:nvSpPr>
        <p:spPr>
          <a:xfrm xmlns:a="http://schemas.openxmlformats.org/drawingml/2006/main">
            <a:off x="540000" y="2700000"/>
            <a:ext cx="1080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0">
                <a:solidFill>
                  <a:srgbClr val="8BA3BC"/>
                </a:solidFill>
              </a:rPr>
              <a:t>Smarter Energy. Stronger Grid. Greener Future.</a:t>
            </a:r>
          </a:p>
        </p:txBody>
      </p:sp>
      <p:sp>
        <p:nvSpPr>
          <p:cNvPr id="100060" name="Stats"/>
          <p:cNvSpPr txBox="1"/>
          <p:nvPr/>
        </p:nvSpPr>
        <p:spPr>
          <a:xfrm xmlns:a="http://schemas.openxmlformats.org/drawingml/2006/main">
            <a:off x="540000" y="342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00E676"/>
                </a:solidFill>
              </a:rPr>
              <a:t>9 Pages     ·     39 Source Files     ·     96 Data Points     ·     20+ AI Patterns</a:t>
            </a:r>
          </a:p>
        </p:txBody>
      </p:sp>
      <p:sp>
        <p:nvSpPr>
          <p:cNvPr id="100061" name="Tags"/>
          <p:cNvSpPr txBox="1"/>
          <p:nvPr/>
        </p:nvSpPr>
        <p:spPr>
          <a:xfrm xmlns:a="http://schemas.openxmlformats.org/drawingml/2006/main">
            <a:off x="540000" y="396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b="0">
                <a:solidFill>
                  <a:srgbClr val="8BA3BC"/>
                </a:solidFill>
              </a:rPr>
              <a:t>9 Functional Pages  |  Rule-Based AI  |  6 Renewable Assets  |  Anomaly Detection  |  Operator Brief  |  Demo Mode</a:t>
            </a:r>
          </a:p>
        </p:txBody>
      </p:sp>
      <p:sp>
        <p:nvSpPr>
          <p:cNvPr id="100062" name="GitHub"/>
          <p:cNvSpPr txBox="1"/>
          <p:nvPr/>
        </p:nvSpPr>
        <p:spPr>
          <a:xfrm xmlns:a="http://schemas.openxmlformats.org/drawingml/2006/main">
            <a:off x="540000" y="4680000"/>
            <a:ext cx="1080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57606A"/>
                </a:solidFill>
              </a:rPr>
              <a:t>github.com/ramani22708-tech/bob-ai-hackathon-FutureMind</a:t>
            </a:r>
          </a:p>
          <a:p xmlns:a="http://schemas.openxmlformats.org/drawingml/2006/main">
            <a:r>
              <a:rPr lang="en-US" sz="1600" b="0">
                <a:solidFill>
                  <a:srgbClr val="57606A"/>
                </a:solidFill>
              </a:rPr>
              <a:t/>
            </a:r>
          </a:p>
          <a:p xmlns:a="http://schemas.openxmlformats.org/drawingml/2006/main">
            <a:r>
              <a:rPr lang="en-US" sz="1600" b="0">
                <a:solidFill>
                  <a:srgbClr val="57606A"/>
                </a:solidFill>
              </a:rPr>
              <a:t>Thank you! Questions welcome. 🙏</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2026-09-14T15:03:43Z</dcterms:created>
  <cp:lastModifiedBy>OfficeCLI</cp:lastModifiedBy>
  <dcterms:modified xsi:type="dcterms:W3CDTF">2026-09-14T15:03:43Z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1.0.149</vt:lpwstr>
  </op:property>
  <op:property fmtid="{D5CDD505-2E9C-101B-9397-08002B2CF9AE}" pid="3" name="OfficeCLI.LastModified">
    <vt:lpwstr xmlns:vt="http://schemas.openxmlformats.org/officeDocument/2006/docPropsVTypes">2026-09-14T15:11:48Z</vt:lpwstr>
  </op:property>
</op:Properties>
</file>